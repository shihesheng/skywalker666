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1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0521-A223-F2E0-D2D4-CDAD73CEA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ED225-ED7A-85F4-8233-CF8F9B730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86E95-5844-632E-B317-5BB95735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BBE0-1B61-4167-9E0A-CDAC9DECDB0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D07F-A695-760B-364F-5EF604D7D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7DD03-E52E-097D-8B2F-32B6BAEC1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0D6E-F0E3-4E2C-B1F3-38268F57EF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356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2C16F-D4EA-CE5F-414C-20A0A9398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3BEED-2F96-F8DE-B383-784ECD151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1AD07-0144-7B77-8DFF-D98FE5E3F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BBE0-1B61-4167-9E0A-CDAC9DECDB0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26A10-46F4-5933-A491-661FAF89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79CEB-EC75-6610-00B7-8E4782DC4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0D6E-F0E3-4E2C-B1F3-38268F57EF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021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6EC50-A857-7D7D-A61C-998B95B79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24D66-2A82-A72E-0884-BF726F12D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86E4D-7A8C-BD9A-B937-22042A1D4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BBE0-1B61-4167-9E0A-CDAC9DECDB0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BA7F9-2095-5118-0662-B9063E26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FAE13-5A78-478D-41B7-B1CC47258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0D6E-F0E3-4E2C-B1F3-38268F57EF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714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6F3F-5E23-1E58-0D25-BCBF0820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1207C-986D-C849-D2F9-225DBE39A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58CD8-B6AF-7288-84DA-6210C1555D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10C5A-6E6D-1F08-600F-1CDF9876F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BBE0-1B61-4167-9E0A-CDAC9DECDB0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F0DD9-BA2B-DA02-EF27-989EA963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5A6B5-1819-4B6C-CB17-56911D137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0D6E-F0E3-4E2C-B1F3-38268F57EF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76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F9B3-7779-CF93-BDA6-355E4B40E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5CE17-BD67-043F-D176-22557B2A1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CCD0C-341A-DFC7-E4ED-53D2EBADA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AE17FA-CC40-9418-FD23-17738FD1C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5C446F-414E-C357-82F4-E29F363ED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487308-B9BD-C43E-794F-6706FAF1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BBE0-1B61-4167-9E0A-CDAC9DECDB0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313A27-8915-78F1-0148-B6492DF0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9D262F-416C-3200-BF74-5304D7BC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0D6E-F0E3-4E2C-B1F3-38268F57EF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96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B6973-EBC8-4AED-F2BC-F8E2E36D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9AC47C-55A5-9FED-50C7-4E0D1FDF5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BBE0-1B61-4167-9E0A-CDAC9DECDB0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4DAF9-04AE-9020-AD6D-8C359424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C5C15-4326-5114-F096-74EC126C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0D6E-F0E3-4E2C-B1F3-38268F57EF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177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63C6EB-61A9-1C4C-86BC-8A6785B2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BBE0-1B61-4167-9E0A-CDAC9DECDB0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2D3FA9-0811-5BE5-BE0A-2E8B914F6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292E7-B96D-A2FC-32DC-B9A1163AC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0D6E-F0E3-4E2C-B1F3-38268F57EF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546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011F1-BB71-6F28-8F33-D64DF5622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4FE09-15AF-E8F2-C7CC-001DD847F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F9304-D914-9189-74C7-8F420B617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8465D-6DED-980A-5FAF-3A29EC5E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BBE0-1B61-4167-9E0A-CDAC9DECDB0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1F8FB-83B6-A1DF-6799-449A58C6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B057D-D9BE-6081-782B-6D7EB03D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0D6E-F0E3-4E2C-B1F3-38268F57EF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71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CB001-C02E-42C2-C8B7-0BFC39C0A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FD68D0-C1DA-16CC-25AC-11CA6227811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D8BE7-9D81-0A57-17E1-E29840EB2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F8577-066A-ACDE-9CDE-A99F17550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BBE0-1B61-4167-9E0A-CDAC9DECDB0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E417-D8D5-F737-5288-AE479582D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64B56-C7CA-793C-391F-CE529350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0D6E-F0E3-4E2C-B1F3-38268F57EF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763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E3480-D61C-13CD-938F-F74F1752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4EF4C8-F025-3102-33EB-1D87E1666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63F5B-9DFC-FA0D-FC77-7C3EEFE4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BBE0-1B61-4167-9E0A-CDAC9DECDB0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E937B-18F5-AF4F-1A1B-7573D00AD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EBF3D-8F36-731E-C343-E8EDD57E9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0D6E-F0E3-4E2C-B1F3-38268F57EF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356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1973C-5BB8-3A1B-76DC-758202EDC6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038CC-929D-612F-0A5E-1B049C410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D9EA8-CBF7-60F8-321B-E39C0D86B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BBE0-1B61-4167-9E0A-CDAC9DECDB0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61CEE-B427-AE2B-4D35-9EB1ADA3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D5E5D-C2BC-905A-A7B3-2E67D676F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0D6E-F0E3-4E2C-B1F3-38268F57EF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69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B6D680-9825-CBA5-1BE8-511CD3A0D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71526-AF34-2EE3-99B0-9465C9BF7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15698-C547-4AD4-485D-F7919E960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6BBE0-1B61-4167-9E0A-CDAC9DECDB01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E3BCD-0B2C-71A8-464E-074A07540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B2370-0E04-3344-EFC4-69FECC45F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0D6E-F0E3-4E2C-B1F3-38268F57EF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89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FF5B28B-7682-3946-C9D8-57F23475CCD8}"/>
              </a:ext>
            </a:extLst>
          </p:cNvPr>
          <p:cNvCxnSpPr/>
          <p:nvPr/>
        </p:nvCxnSpPr>
        <p:spPr>
          <a:xfrm>
            <a:off x="609600" y="533400"/>
            <a:ext cx="7137400" cy="0"/>
          </a:xfrm>
          <a:prstGeom prst="line">
            <a:avLst/>
          </a:prstGeom>
          <a:ln w="12700" cap="flat" cmpd="sng" algn="ctr">
            <a:solidFill>
              <a:srgbClr val="3A3B37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04D034F-BDEF-04A6-241B-3EF484EE85C0}"/>
              </a:ext>
            </a:extLst>
          </p:cNvPr>
          <p:cNvSpPr txBox="1"/>
          <p:nvPr/>
        </p:nvSpPr>
        <p:spPr>
          <a:xfrm>
            <a:off x="8191500" y="3937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900" b="1" spc="200">
                <a:solidFill>
                  <a:srgbClr val="8F979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UNSWCSA / 2026</a:t>
            </a:r>
            <a:endParaRPr lang="zh-CN" altLang="en-US" sz="900" b="1" spc="200">
              <a:solidFill>
                <a:srgbClr val="8F979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AE68A-05BF-25A0-1A70-913379B328D1}"/>
              </a:ext>
            </a:extLst>
          </p:cNvPr>
          <p:cNvSpPr txBox="1"/>
          <p:nvPr/>
        </p:nvSpPr>
        <p:spPr>
          <a:xfrm>
            <a:off x="9652000" y="3937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AU" altLang="zh-CN" sz="800" b="1" spc="140">
                <a:solidFill>
                  <a:srgbClr val="8F979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UNSW · KENSINGTON</a:t>
            </a:r>
            <a:endParaRPr lang="zh-CN" altLang="en-US" sz="800" b="1" spc="140">
              <a:solidFill>
                <a:srgbClr val="8F979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51CB1-840C-F60C-A9D2-7AAA2C94FAA8}"/>
              </a:ext>
            </a:extLst>
          </p:cNvPr>
          <p:cNvSpPr txBox="1"/>
          <p:nvPr/>
        </p:nvSpPr>
        <p:spPr>
          <a:xfrm>
            <a:off x="698500" y="13462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1300" b="1" spc="18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External Relations</a:t>
            </a:r>
            <a:endParaRPr lang="zh-CN" altLang="en-US" sz="1300" b="1" spc="18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5E141-DB0B-9286-522E-8FABC6E1B670}"/>
              </a:ext>
            </a:extLst>
          </p:cNvPr>
          <p:cNvSpPr txBox="1"/>
          <p:nvPr/>
        </p:nvSpPr>
        <p:spPr>
          <a:xfrm>
            <a:off x="647700" y="17272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7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外联副部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A6C28-4A88-FD1C-4AF1-B2260F588E29}"/>
              </a:ext>
            </a:extLst>
          </p:cNvPr>
          <p:cNvSpPr txBox="1"/>
          <p:nvPr/>
        </p:nvSpPr>
        <p:spPr>
          <a:xfrm>
            <a:off x="647700" y="2984500"/>
            <a:ext cx="596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7200" b="1">
                <a:solidFill>
                  <a:srgbClr val="FF5A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竞选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ECCE8A-9F52-877E-6BBD-C13B4075BAA0}"/>
              </a:ext>
            </a:extLst>
          </p:cNvPr>
          <p:cNvSpPr txBox="1"/>
          <p:nvPr/>
        </p:nvSpPr>
        <p:spPr>
          <a:xfrm>
            <a:off x="7239000" y="1524000"/>
            <a:ext cx="4508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4500" b="1" spc="-200">
                <a:solidFill>
                  <a:srgbClr val="17181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2026</a:t>
            </a:r>
            <a:endParaRPr lang="zh-CN" altLang="en-US" sz="14500" b="1" spc="-200">
              <a:solidFill>
                <a:srgbClr val="17181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6A233D-7565-8AF5-57C9-C2630DC72859}"/>
              </a:ext>
            </a:extLst>
          </p:cNvPr>
          <p:cNvCxnSpPr/>
          <p:nvPr/>
        </p:nvCxnSpPr>
        <p:spPr>
          <a:xfrm>
            <a:off x="698500" y="5181600"/>
            <a:ext cx="5588000" cy="0"/>
          </a:xfrm>
          <a:prstGeom prst="line">
            <a:avLst/>
          </a:prstGeom>
          <a:ln w="12700" cap="flat" cmpd="sng" algn="ctr">
            <a:solidFill>
              <a:srgbClr val="3A3B37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5A96518-85BA-DEEE-9372-43E1418B5990}"/>
              </a:ext>
            </a:extLst>
          </p:cNvPr>
          <p:cNvSpPr txBox="1"/>
          <p:nvPr/>
        </p:nvSpPr>
        <p:spPr>
          <a:xfrm>
            <a:off x="698500" y="5359400"/>
            <a:ext cx="558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800" b="1" spc="180">
                <a:solidFill>
                  <a:srgbClr val="8F979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UNSWCSA   /   DEPUTY HEAD CANDIDATE</a:t>
            </a:r>
            <a:endParaRPr lang="zh-CN" altLang="en-US" sz="800" b="1" spc="180">
              <a:solidFill>
                <a:srgbClr val="8F979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89E2C3-9E72-1F95-EEE5-CAD39F29BD93}"/>
              </a:ext>
            </a:extLst>
          </p:cNvPr>
          <p:cNvSpPr txBox="1"/>
          <p:nvPr/>
        </p:nvSpPr>
        <p:spPr>
          <a:xfrm>
            <a:off x="9017000" y="50165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AU" altLang="zh-CN" sz="2200" i="1">
                <a:solidFill>
                  <a:srgbClr val="E9F0F2"/>
                </a:solidFill>
                <a:latin typeface="Segoe Print" panose="02000600000000000000" pitchFamily="2" charset="0"/>
                <a:ea typeface="Microsoft YaHei" panose="020B0503020204020204" pitchFamily="34" charset="-122"/>
              </a:rPr>
              <a:t>Eddy </a:t>
            </a:r>
            <a:r>
              <a:rPr lang="zh-CN" altLang="en-US" sz="2200" i="1">
                <a:solidFill>
                  <a:srgbClr val="E9F0F2"/>
                </a:solidFill>
                <a:latin typeface="Segoe Print" panose="02000600000000000000" pitchFamily="2" charset="0"/>
                <a:ea typeface="Microsoft YaHei" panose="020B0503020204020204" pitchFamily="34" charset="-122"/>
              </a:rPr>
              <a:t>盛世禾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023F14-CF7B-3ADC-05CF-0ED64FD1BB05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A2952D8-D9D5-ED54-B8AD-C32C08B6A058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COVER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D5CEAC-B482-A2C5-1B1B-4D024EE16B9C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0184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00507C-D000-6EEC-DD60-4AAFF9D816C2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 / PERSONAL INTRODUCTION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49C56-669A-7089-84BB-5BEE5091E944}"/>
              </a:ext>
            </a:extLst>
          </p:cNvPr>
          <p:cNvSpPr txBox="1"/>
          <p:nvPr/>
        </p:nvSpPr>
        <p:spPr>
          <a:xfrm>
            <a:off x="609600" y="1143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AU" altLang="zh-CN" sz="17600" b="1" spc="-400">
                <a:solidFill>
                  <a:srgbClr val="17181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PROFILE</a:t>
            </a:r>
            <a:endParaRPr lang="zh-CN" altLang="en-US" sz="17600" b="1" spc="-400">
              <a:solidFill>
                <a:srgbClr val="17181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7727D-0B65-962B-00F0-AB81EA238F13}"/>
              </a:ext>
            </a:extLst>
          </p:cNvPr>
          <p:cNvSpPr txBox="1"/>
          <p:nvPr/>
        </p:nvSpPr>
        <p:spPr>
          <a:xfrm>
            <a:off x="3175000" y="24130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5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个人简介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4AA3C0-356A-1826-C030-ADD4BC572E68}"/>
              </a:ext>
            </a:extLst>
          </p:cNvPr>
          <p:cNvSpPr txBox="1"/>
          <p:nvPr/>
        </p:nvSpPr>
        <p:spPr>
          <a:xfrm>
            <a:off x="3175000" y="3568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 b="1" spc="240">
                <a:solidFill>
                  <a:srgbClr val="8F979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 LITTLE MORE ABOUT ME.</a:t>
            </a:r>
            <a:endParaRPr lang="zh-CN" altLang="en-US" sz="1000" b="1" spc="240">
              <a:solidFill>
                <a:srgbClr val="8F979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F0C6BD-48B5-3F32-932E-09D117BDFEAF}"/>
              </a:ext>
            </a:extLst>
          </p:cNvPr>
          <p:cNvSpPr txBox="1"/>
          <p:nvPr/>
        </p:nvSpPr>
        <p:spPr>
          <a:xfrm>
            <a:off x="3175000" y="43434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2000">
                <a:solidFill>
                  <a:srgbClr val="FF5A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不止是几行自我介绍。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BA3F75-B9C5-CEFB-2F23-CAAD279F1A42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C99E2E0-4B66-C4FC-5917-DA0F07C225C9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PERSONAL PROFILE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BE995F-4CA8-7D1E-0C73-42D93F16A3E9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167506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F39306-6497-F1C0-557E-43E460BE1917}"/>
              </a:ext>
            </a:extLst>
          </p:cNvPr>
          <p:cNvSpPr txBox="1"/>
          <p:nvPr/>
        </p:nvSpPr>
        <p:spPr>
          <a:xfrm>
            <a:off x="609600" y="4318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 spc="200">
                <a:solidFill>
                  <a:srgbClr val="63635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  <a:endParaRPr lang="zh-CN" altLang="en-US" sz="900" b="1" spc="200">
              <a:solidFill>
                <a:srgbClr val="63635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C74DFB-DB92-C3C1-70FB-2220122FF333}"/>
              </a:ext>
            </a:extLst>
          </p:cNvPr>
          <p:cNvSpPr txBox="1"/>
          <p:nvPr/>
        </p:nvSpPr>
        <p:spPr>
          <a:xfrm>
            <a:off x="9245600" y="4318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AU" altLang="zh-CN" sz="900" b="1" spc="200">
                <a:solidFill>
                  <a:srgbClr val="63635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PERSONAL NOTE</a:t>
            </a:r>
            <a:endParaRPr lang="zh-CN" altLang="en-US" sz="900" b="1" spc="200">
              <a:solidFill>
                <a:srgbClr val="63635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08CAA2-946B-557F-78F3-D5F91FDF7E2C}"/>
              </a:ext>
            </a:extLst>
          </p:cNvPr>
          <p:cNvSpPr txBox="1"/>
          <p:nvPr/>
        </p:nvSpPr>
        <p:spPr>
          <a:xfrm>
            <a:off x="863600" y="13716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900" b="1">
                <a:solidFill>
                  <a:srgbClr val="10111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边做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3DB2B-B6A1-293C-CF0E-F4FEF60BABAA}"/>
              </a:ext>
            </a:extLst>
          </p:cNvPr>
          <p:cNvSpPr txBox="1"/>
          <p:nvPr/>
        </p:nvSpPr>
        <p:spPr>
          <a:xfrm>
            <a:off x="863600" y="22225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6200">
                <a:solidFill>
                  <a:srgbClr val="FF5A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边学</a:t>
            </a:r>
            <a:r>
              <a:rPr lang="en-US" altLang="zh-CN" sz="6200">
                <a:solidFill>
                  <a:srgbClr val="FF5A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endParaRPr lang="zh-CN" altLang="en-US" sz="6200">
              <a:solidFill>
                <a:srgbClr val="FF5A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272B5-ADA1-E6AF-11E9-F5882A51E730}"/>
              </a:ext>
            </a:extLst>
          </p:cNvPr>
          <p:cNvSpPr txBox="1"/>
          <p:nvPr/>
        </p:nvSpPr>
        <p:spPr>
          <a:xfrm>
            <a:off x="876300" y="3873500"/>
            <a:ext cx="749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3E3E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我是一名软件工程专业的大二学生。专业上，我比较喜欢“边做边学”。除了课程学习之外，也会主动参加一些项目和比赛，比如字节全栈挑战赛、安克创新黑客松。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943C7-3E7D-71FA-C0C8-5FC9095F53D4}"/>
              </a:ext>
            </a:extLst>
          </p:cNvPr>
          <p:cNvSpPr txBox="1"/>
          <p:nvPr/>
        </p:nvSpPr>
        <p:spPr>
          <a:xfrm>
            <a:off x="876300" y="56769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800" b="1" spc="130">
                <a:solidFill>
                  <a:srgbClr val="6B6A6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SOFTWARE ENGINEERING   /   LEARNING BY DOING   /   BYTEDANCE FULL-STACK CHALLENGE</a:t>
            </a:r>
            <a:endParaRPr lang="zh-CN" altLang="en-US" sz="800" b="1" spc="130">
              <a:solidFill>
                <a:srgbClr val="6B6A64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D6F3E0-B2E3-5DED-8B02-48230CE67C11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6950C1-1EFF-EC78-08B9-1378192C13C0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PERSONAL PROFILE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A82B4-78D6-E476-85FC-6A1FA2EB5510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2950744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DBADC6-0C44-B9F7-A7A7-0E22F67C4645}"/>
              </a:ext>
            </a:extLst>
          </p:cNvPr>
          <p:cNvSpPr txBox="1"/>
          <p:nvPr/>
        </p:nvSpPr>
        <p:spPr>
          <a:xfrm>
            <a:off x="609600" y="4318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 spc="200">
                <a:solidFill>
                  <a:srgbClr val="85341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  <a:endParaRPr lang="zh-CN" altLang="en-US" sz="900" b="1" spc="200">
              <a:solidFill>
                <a:srgbClr val="85341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4700B7-0788-6E06-2505-267E8F3CAA46}"/>
              </a:ext>
            </a:extLst>
          </p:cNvPr>
          <p:cNvSpPr txBox="1"/>
          <p:nvPr/>
        </p:nvSpPr>
        <p:spPr>
          <a:xfrm>
            <a:off x="9245600" y="4318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AU" altLang="zh-CN" sz="900" b="1" spc="200">
                <a:solidFill>
                  <a:srgbClr val="85341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PERSONAL NOTE</a:t>
            </a:r>
            <a:endParaRPr lang="zh-CN" altLang="en-US" sz="900" b="1" spc="200">
              <a:solidFill>
                <a:srgbClr val="85341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67113-C2D6-A5C5-CE92-B8ECBD79445C}"/>
              </a:ext>
            </a:extLst>
          </p:cNvPr>
          <p:cNvSpPr txBox="1"/>
          <p:nvPr/>
        </p:nvSpPr>
        <p:spPr>
          <a:xfrm>
            <a:off x="863600" y="13335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5400" b="1">
                <a:solidFill>
                  <a:srgbClr val="0F111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走出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0C75E-1C67-962F-882C-4003D268863F}"/>
              </a:ext>
            </a:extLst>
          </p:cNvPr>
          <p:cNvSpPr txBox="1"/>
          <p:nvPr/>
        </p:nvSpPr>
        <p:spPr>
          <a:xfrm>
            <a:off x="863600" y="22606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6200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舒适区</a:t>
            </a:r>
            <a:r>
              <a:rPr lang="en-US" altLang="zh-CN" sz="6200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endParaRPr lang="zh-CN" altLang="en-US" sz="6200">
              <a:solidFill>
                <a:srgbClr val="E9F0F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7DB5ED-F122-8709-F0A1-1C956D9AFF65}"/>
              </a:ext>
            </a:extLst>
          </p:cNvPr>
          <p:cNvSpPr txBox="1"/>
          <p:nvPr/>
        </p:nvSpPr>
        <p:spPr>
          <a:xfrm>
            <a:off x="876300" y="39243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45251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平时我很喜欢运动，尤其是打羽毛球；也喜欢音乐，会弹一点钢琴、吹口琴。相比一直待在自己的舒适区里，我更喜欢尝试新东西、认识不同的人，也很享受和大家一起讨论、合作的过程。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1A751-FF33-38E4-65E3-3C5F2ECE5C21}"/>
              </a:ext>
            </a:extLst>
          </p:cNvPr>
          <p:cNvSpPr txBox="1"/>
          <p:nvPr/>
        </p:nvSpPr>
        <p:spPr>
          <a:xfrm>
            <a:off x="876300" y="56769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800" b="1" spc="150">
                <a:solidFill>
                  <a:srgbClr val="86351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BADMINTON   /   PIANO   /   HARMONICA</a:t>
            </a:r>
            <a:endParaRPr lang="zh-CN" altLang="en-US" sz="800" b="1" spc="150">
              <a:solidFill>
                <a:srgbClr val="86351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09638B-A857-4B37-DA45-190ADB214210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FA14246-56ED-F064-B646-28504DDABEDB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PERSONAL PROFILE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9EE97-B0C3-6036-9C74-C5D123507185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3611127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BA5F3B-6CE0-A020-0D2C-11EB617DC7E1}"/>
              </a:ext>
            </a:extLst>
          </p:cNvPr>
          <p:cNvSpPr txBox="1"/>
          <p:nvPr/>
        </p:nvSpPr>
        <p:spPr>
          <a:xfrm>
            <a:off x="609600" y="4318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 spc="200">
                <a:solidFill>
                  <a:srgbClr val="85341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  <a:endParaRPr lang="zh-CN" altLang="en-US" sz="900" b="1" spc="200">
              <a:solidFill>
                <a:srgbClr val="85341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2E9ED6-A6B5-1B0F-265F-8F24FF347FAD}"/>
              </a:ext>
            </a:extLst>
          </p:cNvPr>
          <p:cNvSpPr txBox="1"/>
          <p:nvPr/>
        </p:nvSpPr>
        <p:spPr>
          <a:xfrm>
            <a:off x="9245600" y="431800"/>
            <a:ext cx="233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AU" altLang="zh-CN" sz="900" b="1" spc="200">
                <a:solidFill>
                  <a:srgbClr val="8F979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PERSONAL NOTE</a:t>
            </a:r>
            <a:endParaRPr lang="zh-CN" altLang="en-US" sz="900" b="1" spc="200">
              <a:solidFill>
                <a:srgbClr val="8F979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324B4-56FC-085C-7707-E7440C4395B9}"/>
              </a:ext>
            </a:extLst>
          </p:cNvPr>
          <p:cNvSpPr txBox="1"/>
          <p:nvPr/>
        </p:nvSpPr>
        <p:spPr>
          <a:xfrm>
            <a:off x="863600" y="13335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54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把想法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2E31BC-7BDB-EC54-603A-0789AFFFF46E}"/>
              </a:ext>
            </a:extLst>
          </p:cNvPr>
          <p:cNvSpPr txBox="1"/>
          <p:nvPr/>
        </p:nvSpPr>
        <p:spPr>
          <a:xfrm>
            <a:off x="863600" y="22606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6200">
                <a:solidFill>
                  <a:srgbClr val="FF5A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做出来</a:t>
            </a:r>
            <a:r>
              <a:rPr lang="en-US" altLang="zh-CN" sz="6200">
                <a:solidFill>
                  <a:srgbClr val="FF5A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endParaRPr lang="zh-CN" altLang="en-US" sz="6200">
              <a:solidFill>
                <a:srgbClr val="FF5A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65321A-E425-015A-5676-156DB5950884}"/>
              </a:ext>
            </a:extLst>
          </p:cNvPr>
          <p:cNvSpPr txBox="1"/>
          <p:nvPr/>
        </p:nvSpPr>
        <p:spPr>
          <a:xfrm>
            <a:off x="876300" y="3924300"/>
            <a:ext cx="749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B1B0A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对我来说，参加这些活动不只是为了多一段经历，更重要的是能真正和团队一起做东西、解决问题，把脑子里的想法一点点落地。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70372B-846A-DCB3-2253-CC094DBB8412}"/>
              </a:ext>
            </a:extLst>
          </p:cNvPr>
          <p:cNvSpPr txBox="1"/>
          <p:nvPr/>
        </p:nvSpPr>
        <p:spPr>
          <a:xfrm>
            <a:off x="876300" y="5676900"/>
            <a:ext cx="850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sv-SE" altLang="zh-CN" sz="800" b="1" spc="130">
                <a:solidFill>
                  <a:srgbClr val="8F979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BYTEDANCE FULL-STACK CHALLENGE   /   ANKER HACKATHON</a:t>
            </a:r>
            <a:endParaRPr lang="zh-CN" altLang="en-US" sz="800" b="1" spc="130">
              <a:solidFill>
                <a:srgbClr val="8F979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D0995D-793C-FF9B-0606-D8ABD239872F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E99BD9E-4E2C-BC1D-C61F-AAC558637751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PERSONAL PROFILE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69E689-73A9-CACB-76AB-18360C3807C4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05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3723838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03D8D4-1C2D-CB49-FEB2-F28DDB481D29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SELECTED WORK &amp; EVIDENCE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53CC8-9579-4E61-F0DC-22C6A50616F5}"/>
              </a:ext>
            </a:extLst>
          </p:cNvPr>
          <p:cNvSpPr txBox="1"/>
          <p:nvPr/>
        </p:nvSpPr>
        <p:spPr>
          <a:xfrm>
            <a:off x="3429000" y="27686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AU" altLang="zh-CN" sz="4800" b="1" spc="160">
                <a:solidFill>
                  <a:srgbClr val="E9F0F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PORTFOLIO</a:t>
            </a:r>
            <a:endParaRPr lang="zh-CN" altLang="en-US" sz="4800" b="1" spc="160">
              <a:solidFill>
                <a:srgbClr val="E9F0F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6693F-4E9E-1284-2F36-9ACDE85C5B8C}"/>
              </a:ext>
            </a:extLst>
          </p:cNvPr>
          <p:cNvSpPr txBox="1"/>
          <p:nvPr/>
        </p:nvSpPr>
        <p:spPr>
          <a:xfrm>
            <a:off x="3429000" y="3733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AU" altLang="zh-CN" sz="900" b="1" spc="200">
                <a:solidFill>
                  <a:srgbClr val="8F979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CONTRACTS · PROJECTS · RESEARCH</a:t>
            </a:r>
            <a:endParaRPr lang="zh-CN" altLang="en-US" sz="900" b="1" spc="200">
              <a:solidFill>
                <a:srgbClr val="8F979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DF9C115-82EE-B1B3-5B0D-D3CFA646CE5F}"/>
              </a:ext>
            </a:extLst>
          </p:cNvPr>
          <p:cNvSpPr/>
          <p:nvPr/>
        </p:nvSpPr>
        <p:spPr>
          <a:xfrm rot="-924000">
            <a:off x="1313296" y="2061618"/>
            <a:ext cx="1092200" cy="14478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386112-C2AE-8E57-18AE-630F2C0649E8}"/>
              </a:ext>
            </a:extLst>
          </p:cNvPr>
          <p:cNvSpPr/>
          <p:nvPr/>
        </p:nvSpPr>
        <p:spPr>
          <a:xfrm rot="-540000">
            <a:off x="2597460" y="1052780"/>
            <a:ext cx="1092200" cy="14478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5F0987-1420-649F-57F6-BEF348E8A42B}"/>
              </a:ext>
            </a:extLst>
          </p:cNvPr>
          <p:cNvSpPr/>
          <p:nvPr/>
        </p:nvSpPr>
        <p:spPr>
          <a:xfrm rot="-156000">
            <a:off x="4626529" y="508888"/>
            <a:ext cx="1092200" cy="14478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BD1E77-A960-9BA0-0E9F-8936291865F1}"/>
              </a:ext>
            </a:extLst>
          </p:cNvPr>
          <p:cNvSpPr/>
          <p:nvPr/>
        </p:nvSpPr>
        <p:spPr>
          <a:xfrm rot="228000">
            <a:off x="6888566" y="567166"/>
            <a:ext cx="1092200" cy="14478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763FE2-9394-B1AF-A46B-B88BF07F6F73}"/>
              </a:ext>
            </a:extLst>
          </p:cNvPr>
          <p:cNvSpPr/>
          <p:nvPr/>
        </p:nvSpPr>
        <p:spPr>
          <a:xfrm rot="612000">
            <a:off x="8812855" y="1212911"/>
            <a:ext cx="1092200" cy="14478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6CD7C8-7481-FE9F-F925-CD45493B56CD}"/>
              </a:ext>
            </a:extLst>
          </p:cNvPr>
          <p:cNvSpPr/>
          <p:nvPr/>
        </p:nvSpPr>
        <p:spPr>
          <a:xfrm rot="996000">
            <a:off x="9913896" y="2283201"/>
            <a:ext cx="1092200" cy="14478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321EE5-3E2F-D5BD-9BAB-85722DF07AC9}"/>
              </a:ext>
            </a:extLst>
          </p:cNvPr>
          <p:cNvSpPr/>
          <p:nvPr/>
        </p:nvSpPr>
        <p:spPr>
          <a:xfrm rot="1380000">
            <a:off x="9913896" y="3507999"/>
            <a:ext cx="1092200" cy="14478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5509AE-5834-A236-0E4C-37D45F2559F8}"/>
              </a:ext>
            </a:extLst>
          </p:cNvPr>
          <p:cNvSpPr/>
          <p:nvPr/>
        </p:nvSpPr>
        <p:spPr>
          <a:xfrm rot="1764000">
            <a:off x="8812855" y="4578289"/>
            <a:ext cx="1092200" cy="1447800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2237AE-3881-FFD3-3A7F-949E93B08FC8}"/>
              </a:ext>
            </a:extLst>
          </p:cNvPr>
          <p:cNvSpPr/>
          <p:nvPr/>
        </p:nvSpPr>
        <p:spPr>
          <a:xfrm rot="2148000">
            <a:off x="6888566" y="5224033"/>
            <a:ext cx="1092200" cy="1447800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A480AD5-7434-C0C6-4F49-43864D3FE61D}"/>
              </a:ext>
            </a:extLst>
          </p:cNvPr>
          <p:cNvSpPr/>
          <p:nvPr/>
        </p:nvSpPr>
        <p:spPr>
          <a:xfrm rot="2532000">
            <a:off x="4626529" y="5282312"/>
            <a:ext cx="1092200" cy="1447800"/>
          </a:xfrm>
          <a:prstGeom prst="roundRect">
            <a:avLst/>
          </a:prstGeom>
          <a:blipFill>
            <a:blip r:embed="rId11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619B77-BEF3-4383-CF9E-9D8300145B9A}"/>
              </a:ext>
            </a:extLst>
          </p:cNvPr>
          <p:cNvSpPr/>
          <p:nvPr/>
        </p:nvSpPr>
        <p:spPr>
          <a:xfrm rot="2916000">
            <a:off x="2597460" y="4738420"/>
            <a:ext cx="1092200" cy="1447800"/>
          </a:xfrm>
          <a:prstGeom prst="roundRect">
            <a:avLst/>
          </a:prstGeom>
          <a:blipFill>
            <a:blip r:embed="rId1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D91B1DD-3F23-3809-CA5B-6941B0E62CBD}"/>
              </a:ext>
            </a:extLst>
          </p:cNvPr>
          <p:cNvSpPr/>
          <p:nvPr/>
        </p:nvSpPr>
        <p:spPr>
          <a:xfrm rot="3300000">
            <a:off x="1313296" y="3729582"/>
            <a:ext cx="1092200" cy="1447800"/>
          </a:xfrm>
          <a:prstGeom prst="roundRect">
            <a:avLst/>
          </a:prstGeom>
          <a:blipFill>
            <a:blip r:embed="rId13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AED151E-FDF8-E8F5-E313-70A302FEE8C8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BD0654E-3EE2-FBD7-0BEE-EC0A5B2A8D91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PORTFOLIO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9E90B1-7C1F-CD4C-29A0-C95EE1C5A9EA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06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07455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3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19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8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800"/>
                            </p:stCondLst>
                            <p:childTnLst>
                              <p:par>
                                <p:cTn id="30" presetID="23" presetClass="entr" presetSubtype="16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650"/>
                            </p:stCondLst>
                            <p:childTnLst>
                              <p:par>
                                <p:cTn id="35" presetID="23" presetClass="entr" presetSubtype="16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30"/>
                            </p:stCondLst>
                            <p:childTnLst>
                              <p:par>
                                <p:cTn id="40" presetID="23" presetClass="entr" presetSubtype="16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440"/>
                            </p:stCondLst>
                            <p:childTnLst>
                              <p:par>
                                <p:cTn id="45" presetID="23" presetClass="entr" presetSubtype="16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380"/>
                            </p:stCondLst>
                            <p:childTnLst>
                              <p:par>
                                <p:cTn id="50" presetID="23" presetClass="entr" presetSubtype="16" fill="hold" grpId="0" nodeType="after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350"/>
                            </p:stCondLst>
                            <p:childTnLst>
                              <p:par>
                                <p:cTn id="55" presetID="2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9350"/>
                            </p:stCondLst>
                            <p:childTnLst>
                              <p:par>
                                <p:cTn id="60" presetID="23" presetClass="entr" presetSubtype="16" fill="hold" grpId="0" nodeType="after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176611-123A-ED6B-F178-83C27AAD0CB0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 / MY JOURNEY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8F565-B02F-9D60-9582-0EE3B4098661}"/>
              </a:ext>
            </a:extLst>
          </p:cNvPr>
          <p:cNvSpPr txBox="1"/>
          <p:nvPr/>
        </p:nvSpPr>
        <p:spPr>
          <a:xfrm>
            <a:off x="609600" y="11684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AU" altLang="zh-CN" sz="13200" b="1" spc="-300">
                <a:solidFill>
                  <a:srgbClr val="18191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MY JOURNEY</a:t>
            </a:r>
            <a:endParaRPr lang="zh-CN" altLang="en-US" sz="13200" b="1" spc="-300">
              <a:solidFill>
                <a:srgbClr val="18191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36280-53BE-02AA-2693-605CA71F7998}"/>
              </a:ext>
            </a:extLst>
          </p:cNvPr>
          <p:cNvSpPr txBox="1"/>
          <p:nvPr/>
        </p:nvSpPr>
        <p:spPr>
          <a:xfrm>
            <a:off x="2857500" y="22860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54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我与外联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3F4C4-8298-62FA-6BD8-90F29F91502F}"/>
              </a:ext>
            </a:extLst>
          </p:cNvPr>
          <p:cNvSpPr txBox="1"/>
          <p:nvPr/>
        </p:nvSpPr>
        <p:spPr>
          <a:xfrm>
            <a:off x="2286000" y="34925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9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Somewhere between every event, I found my place here.</a:t>
            </a:r>
            <a:endParaRPr lang="zh-CN" altLang="en-US" sz="19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1AEE3-D269-A8A0-F29A-CB10F360DAD9}"/>
              </a:ext>
            </a:extLst>
          </p:cNvPr>
          <p:cNvSpPr txBox="1"/>
          <p:nvPr/>
        </p:nvSpPr>
        <p:spPr>
          <a:xfrm>
            <a:off x="2730500" y="43942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600">
                <a:solidFill>
                  <a:srgbClr val="B3B2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比起把它们写成一条条经历，我更愿意把这些活动理解成我和外联共同经历过的一些瞬间。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E1B589-4C8D-D0C5-EFCF-D841A13399AA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32BC461-7C1C-0C14-EBDC-BDEA68F24A45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MY JOURNEY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14C6E-A16F-70E7-8AAC-309BCCAC810B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07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86659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CF355E-96D7-1871-C4AF-DBB30B119B22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 / SIX MOMENTS · ONE STORY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817FA-6A66-0B7F-64C3-A849A7A05DEC}"/>
              </a:ext>
            </a:extLst>
          </p:cNvPr>
          <p:cNvSpPr txBox="1"/>
          <p:nvPr/>
        </p:nvSpPr>
        <p:spPr>
          <a:xfrm>
            <a:off x="7112000" y="660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200" b="1">
                <a:solidFill>
                  <a:srgbClr val="1B1C1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  <a:endParaRPr lang="zh-CN" altLang="en-US" sz="11200" b="1">
              <a:solidFill>
                <a:srgbClr val="1B1C1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0BAE4-5571-DCA0-15B5-52ABDEA43B8C}"/>
              </a:ext>
            </a:extLst>
          </p:cNvPr>
          <p:cNvSpPr txBox="1"/>
          <p:nvPr/>
        </p:nvSpPr>
        <p:spPr>
          <a:xfrm>
            <a:off x="7239000" y="10922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端午节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CB3E1-97F5-1FFE-11BC-4930E57CD8E3}"/>
              </a:ext>
            </a:extLst>
          </p:cNvPr>
          <p:cNvSpPr txBox="1"/>
          <p:nvPr/>
        </p:nvSpPr>
        <p:spPr>
          <a:xfrm>
            <a:off x="7239000" y="1955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22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Dragon Boat Festival</a:t>
            </a:r>
            <a:endParaRPr lang="zh-CN" altLang="en-US" sz="22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3FDE0-D8E6-53DE-575F-CDE8B69F4C82}"/>
              </a:ext>
            </a:extLst>
          </p:cNvPr>
          <p:cNvSpPr txBox="1"/>
          <p:nvPr/>
        </p:nvSpPr>
        <p:spPr>
          <a:xfrm>
            <a:off x="7239000" y="2692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第一次真正走进外联的活动现场，也是在这里开始理解：一场活动最终呈现出来的热闹，背后其实是很多细节共同完成的。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19FB16-99FC-EE74-B81B-19832CF15101}"/>
              </a:ext>
            </a:extLst>
          </p:cNvPr>
          <p:cNvSpPr/>
          <p:nvPr/>
        </p:nvSpPr>
        <p:spPr>
          <a:xfrm>
            <a:off x="609600" y="1066800"/>
            <a:ext cx="5334000" cy="37084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B2A593-1886-5FE5-CF0A-E336EC813778}"/>
              </a:ext>
            </a:extLst>
          </p:cNvPr>
          <p:cNvSpPr/>
          <p:nvPr/>
        </p:nvSpPr>
        <p:spPr>
          <a:xfrm rot="-108000">
            <a:off x="3810000" y="3810000"/>
            <a:ext cx="3238500" cy="21082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CA9D5-96FA-8E5B-1112-CDC1EB444921}"/>
              </a:ext>
            </a:extLst>
          </p:cNvPr>
          <p:cNvSpPr/>
          <p:nvPr/>
        </p:nvSpPr>
        <p:spPr>
          <a:xfrm>
            <a:off x="4838700" y="3670300"/>
            <a:ext cx="914400" cy="228600"/>
          </a:xfrm>
          <a:prstGeom prst="rect">
            <a:avLst/>
          </a:prstGeom>
          <a:solidFill>
            <a:srgbClr val="FF5A1F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CD8DB6-9D34-9521-B919-75CBD29F3F98}"/>
              </a:ext>
            </a:extLst>
          </p:cNvPr>
          <p:cNvSpPr txBox="1"/>
          <p:nvPr/>
        </p:nvSpPr>
        <p:spPr>
          <a:xfrm>
            <a:off x="9652000" y="57658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AU" altLang="zh-CN" sz="1700" i="1">
                <a:solidFill>
                  <a:srgbClr val="E9F0F2"/>
                </a:solidFill>
                <a:latin typeface="Segoe Print" panose="02000600000000000000" pitchFamily="2" charset="0"/>
                <a:ea typeface="Microsoft YaHei" panose="020B0503020204020204" pitchFamily="34" charset="-122"/>
              </a:rPr>
              <a:t>the beginning</a:t>
            </a:r>
            <a:endParaRPr lang="zh-CN" altLang="en-US" sz="1700" i="1">
              <a:solidFill>
                <a:srgbClr val="E9F0F2"/>
              </a:solidFill>
              <a:latin typeface="Segoe Print" panose="02000600000000000000" pitchFamily="2" charset="0"/>
              <a:ea typeface="Microsoft YaHei" panose="020B0503020204020204" pitchFamily="34" charset="-122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121FAC-695C-B09A-9BAD-DCC70F34A37D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7793E4C-FABD-D8F2-91C2-8FD0CE4C6B67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MY JOURNEY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EF6CC4-D04B-3E39-621C-79C2FF99B043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08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1943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320"/>
                            </p:stCondLst>
                            <p:childTnLst>
                              <p:par>
                                <p:cTn id="22" presetID="23" presetClass="entr" presetSubtype="16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0B26C5-84DB-2379-440D-F53E5FB57276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 / SIX MOMENTS · ONE STORY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850C0-DE84-900D-EF42-0966F1462B80}"/>
              </a:ext>
            </a:extLst>
          </p:cNvPr>
          <p:cNvSpPr txBox="1"/>
          <p:nvPr/>
        </p:nvSpPr>
        <p:spPr>
          <a:xfrm>
            <a:off x="482600" y="660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200" b="1">
                <a:solidFill>
                  <a:srgbClr val="1B1C1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  <a:endParaRPr lang="zh-CN" altLang="en-US" sz="11200" b="1">
              <a:solidFill>
                <a:srgbClr val="1B1C1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CFEA99-24ED-5042-C092-020F5575658B}"/>
              </a:ext>
            </a:extLst>
          </p:cNvPr>
          <p:cNvSpPr txBox="1"/>
          <p:nvPr/>
        </p:nvSpPr>
        <p:spPr>
          <a:xfrm>
            <a:off x="609600" y="10922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全员加速中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2812B-5FD9-7CD5-D501-5536BE254D6F}"/>
              </a:ext>
            </a:extLst>
          </p:cNvPr>
          <p:cNvSpPr txBox="1"/>
          <p:nvPr/>
        </p:nvSpPr>
        <p:spPr>
          <a:xfrm>
            <a:off x="609600" y="1955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22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Run together.</a:t>
            </a:r>
            <a:endParaRPr lang="zh-CN" altLang="en-US" sz="22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D5F42-9637-0152-04CD-D596A6A0B8C0}"/>
              </a:ext>
            </a:extLst>
          </p:cNvPr>
          <p:cNvSpPr txBox="1"/>
          <p:nvPr/>
        </p:nvSpPr>
        <p:spPr>
          <a:xfrm>
            <a:off x="609600" y="2692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相比单纯完成自己的任务，这次活动让我更明显地感受到团队之间的配合。现场节奏很快，每个人都需要知道自己什么时候出现、什么时候补位。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B6C295-2FA4-074E-CB1C-F886DD6E3B93}"/>
              </a:ext>
            </a:extLst>
          </p:cNvPr>
          <p:cNvSpPr/>
          <p:nvPr/>
        </p:nvSpPr>
        <p:spPr>
          <a:xfrm>
            <a:off x="5207000" y="1066800"/>
            <a:ext cx="5334000" cy="37084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7D4F6C-316F-0325-D541-18B4D3E794E0}"/>
              </a:ext>
            </a:extLst>
          </p:cNvPr>
          <p:cNvSpPr/>
          <p:nvPr/>
        </p:nvSpPr>
        <p:spPr>
          <a:xfrm rot="-108000">
            <a:off x="8407400" y="3810000"/>
            <a:ext cx="3238500" cy="21082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12F223-1096-4225-56BD-2B36616B58B8}"/>
              </a:ext>
            </a:extLst>
          </p:cNvPr>
          <p:cNvSpPr/>
          <p:nvPr/>
        </p:nvSpPr>
        <p:spPr>
          <a:xfrm>
            <a:off x="9436100" y="3670300"/>
            <a:ext cx="914400" cy="228600"/>
          </a:xfrm>
          <a:prstGeom prst="rect">
            <a:avLst/>
          </a:prstGeom>
          <a:solidFill>
            <a:srgbClr val="FF5A1F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2E4DF9-F02B-2AE5-326D-5D379A41C7FD}"/>
              </a:ext>
            </a:extLst>
          </p:cNvPr>
          <p:cNvSpPr txBox="1"/>
          <p:nvPr/>
        </p:nvSpPr>
        <p:spPr>
          <a:xfrm>
            <a:off x="609600" y="46482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800" b="1" spc="140">
                <a:solidFill>
                  <a:srgbClr val="7F7F7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COORDINATION   /   REACTION   /   TEAMWORK</a:t>
            </a:r>
            <a:endParaRPr lang="zh-CN" altLang="en-US" sz="800" b="1" spc="140">
              <a:solidFill>
                <a:srgbClr val="7F7F79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A9CA41-2C83-4DB5-4E24-AC9ED87702EA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1E7621-465F-52EF-2160-3B042492FAA4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MY JOURNEY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639A0A-EE17-CDCE-DA2A-EC5C94FD0161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09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34772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320"/>
                            </p:stCondLst>
                            <p:childTnLst>
                              <p:par>
                                <p:cTn id="22" presetID="23" presetClass="entr" presetSubtype="16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D2BBAF-5E10-CD35-2656-32984866D918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 / SIX MOMENTS · ONE STORY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7BEFF-44E8-A2EE-8B8C-38ED8165902F}"/>
              </a:ext>
            </a:extLst>
          </p:cNvPr>
          <p:cNvSpPr txBox="1"/>
          <p:nvPr/>
        </p:nvSpPr>
        <p:spPr>
          <a:xfrm>
            <a:off x="7112000" y="660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200" b="1">
                <a:solidFill>
                  <a:srgbClr val="1B1C1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  <a:endParaRPr lang="zh-CN" altLang="en-US" sz="11200" b="1">
              <a:solidFill>
                <a:srgbClr val="1B1C1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F5ABE-05AE-E4D8-8EE5-82E19E6217F9}"/>
              </a:ext>
            </a:extLst>
          </p:cNvPr>
          <p:cNvSpPr txBox="1"/>
          <p:nvPr/>
        </p:nvSpPr>
        <p:spPr>
          <a:xfrm>
            <a:off x="7239000" y="10922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期末加油包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C4A5B-E46A-C13D-CA73-CED45A07078B}"/>
              </a:ext>
            </a:extLst>
          </p:cNvPr>
          <p:cNvSpPr txBox="1"/>
          <p:nvPr/>
        </p:nvSpPr>
        <p:spPr>
          <a:xfrm>
            <a:off x="7239000" y="1955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A small thing, at the right time.</a:t>
            </a:r>
            <a:endParaRPr lang="zh-CN" altLang="en-US" sz="22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76AE8-7D53-9A04-E056-8782981BC113}"/>
              </a:ext>
            </a:extLst>
          </p:cNvPr>
          <p:cNvSpPr txBox="1"/>
          <p:nvPr/>
        </p:nvSpPr>
        <p:spPr>
          <a:xfrm>
            <a:off x="7239000" y="2692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外联并不一定只存在于大型活动里。有时候，一个很小的活动，也能让社团和同学之间产生真正的连接。</a:t>
            </a:r>
          </a:p>
          <a:p>
            <a:r>
              <a:rPr lang="zh-CN" altLang="en-US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这也让我开始意识到，活动的价值不一定取决于规模，而在于它有没有回应大家当下真正需要的东西。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59499D-6299-D3D9-011A-37B566F93D6B}"/>
              </a:ext>
            </a:extLst>
          </p:cNvPr>
          <p:cNvSpPr/>
          <p:nvPr/>
        </p:nvSpPr>
        <p:spPr>
          <a:xfrm>
            <a:off x="609600" y="1066800"/>
            <a:ext cx="5334000" cy="37084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6F1C75-E694-A06D-2571-8A477AC2D9B8}"/>
              </a:ext>
            </a:extLst>
          </p:cNvPr>
          <p:cNvSpPr/>
          <p:nvPr/>
        </p:nvSpPr>
        <p:spPr>
          <a:xfrm rot="-108000">
            <a:off x="3810000" y="3810000"/>
            <a:ext cx="3238500" cy="21082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86F136-13F6-76EC-B52C-60B384B04D9F}"/>
              </a:ext>
            </a:extLst>
          </p:cNvPr>
          <p:cNvSpPr/>
          <p:nvPr/>
        </p:nvSpPr>
        <p:spPr>
          <a:xfrm>
            <a:off x="4838700" y="3670300"/>
            <a:ext cx="914400" cy="228600"/>
          </a:xfrm>
          <a:prstGeom prst="rect">
            <a:avLst/>
          </a:prstGeom>
          <a:solidFill>
            <a:srgbClr val="FF5A1F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077A2F-EBFF-A20A-42A0-809BE8B5AE99}"/>
              </a:ext>
            </a:extLst>
          </p:cNvPr>
          <p:cNvSpPr txBox="1"/>
          <p:nvPr/>
        </p:nvSpPr>
        <p:spPr>
          <a:xfrm>
            <a:off x="7239000" y="46482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800" b="1" spc="140">
                <a:solidFill>
                  <a:srgbClr val="7F7F7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WARM   /   SMALL DETAILS   /   HUMAN CONNECTION</a:t>
            </a:r>
            <a:endParaRPr lang="zh-CN" altLang="en-US" sz="800" b="1" spc="140">
              <a:solidFill>
                <a:srgbClr val="7F7F79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742490-666C-B5B4-9C3C-ABC23C52B2CC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6FBD324-A3D4-FA2B-31DA-4543B132DF14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MY JOURNEY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87DC9D-3172-DDBE-0693-E28B517ED79E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10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39303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320"/>
                            </p:stCondLst>
                            <p:childTnLst>
                              <p:par>
                                <p:cTn id="22" presetID="23" presetClass="entr" presetSubtype="16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D06A75-A860-EB8E-DEBB-A6661AF5C2AB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 / SIX MOMENTS · ONE STORY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D85BF-61B1-2904-0ACF-5A344BFB3315}"/>
              </a:ext>
            </a:extLst>
          </p:cNvPr>
          <p:cNvSpPr txBox="1"/>
          <p:nvPr/>
        </p:nvSpPr>
        <p:spPr>
          <a:xfrm>
            <a:off x="482600" y="660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200" b="1">
                <a:solidFill>
                  <a:srgbClr val="1B1C1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</a:t>
            </a:r>
            <a:endParaRPr lang="zh-CN" altLang="en-US" sz="11200" b="1">
              <a:solidFill>
                <a:srgbClr val="1B1C1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D85C4-CD43-2293-3FAC-53D86138B832}"/>
              </a:ext>
            </a:extLst>
          </p:cNvPr>
          <p:cNvSpPr txBox="1"/>
          <p:nvPr/>
        </p:nvSpPr>
        <p:spPr>
          <a:xfrm>
            <a:off x="609600" y="10922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4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Launch Week</a:t>
            </a:r>
            <a:endParaRPr lang="zh-CN" altLang="en-US" sz="4200" b="1">
              <a:solidFill>
                <a:srgbClr val="E9F0F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422CD-4876-46A7-2951-069ED7D67EF1}"/>
              </a:ext>
            </a:extLst>
          </p:cNvPr>
          <p:cNvSpPr txBox="1"/>
          <p:nvPr/>
        </p:nvSpPr>
        <p:spPr>
          <a:xfrm>
            <a:off x="609600" y="1955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22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Communication in motion.</a:t>
            </a:r>
            <a:endParaRPr lang="zh-CN" altLang="en-US" sz="22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DA215-03D6-44CA-A906-5E92B5DCB5EF}"/>
              </a:ext>
            </a:extLst>
          </p:cNvPr>
          <p:cNvSpPr txBox="1"/>
          <p:nvPr/>
        </p:nvSpPr>
        <p:spPr>
          <a:xfrm>
            <a:off x="609600" y="2692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Launch Week </a:t>
            </a:r>
            <a:r>
              <a:rPr lang="zh-CN" altLang="en-US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让我看到，一个活动真正对外呈现时，现场体验、信息传达和整体氛围其实是连在一起的。</a:t>
            </a:r>
          </a:p>
          <a:p>
            <a:r>
              <a:rPr lang="zh-CN" altLang="en-US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外联也不只是“找到资源”，而是在不同的人、信息和需求之间建立连接。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7F3B87-6EAD-09E6-1A2A-AF6F01C2C563}"/>
              </a:ext>
            </a:extLst>
          </p:cNvPr>
          <p:cNvSpPr/>
          <p:nvPr/>
        </p:nvSpPr>
        <p:spPr>
          <a:xfrm>
            <a:off x="5207000" y="1066800"/>
            <a:ext cx="5334000" cy="37084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29B556-1430-6CE0-0037-634A1A7D70D7}"/>
              </a:ext>
            </a:extLst>
          </p:cNvPr>
          <p:cNvSpPr/>
          <p:nvPr/>
        </p:nvSpPr>
        <p:spPr>
          <a:xfrm rot="-108000">
            <a:off x="8407400" y="3810000"/>
            <a:ext cx="3238500" cy="21082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A46474-C8C3-85EF-996E-676DB9B9E728}"/>
              </a:ext>
            </a:extLst>
          </p:cNvPr>
          <p:cNvSpPr/>
          <p:nvPr/>
        </p:nvSpPr>
        <p:spPr>
          <a:xfrm>
            <a:off x="9436100" y="3670300"/>
            <a:ext cx="914400" cy="228600"/>
          </a:xfrm>
          <a:prstGeom prst="rect">
            <a:avLst/>
          </a:prstGeom>
          <a:solidFill>
            <a:srgbClr val="FF5A1F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0B312-BED5-94AD-7579-85BCDE64E647}"/>
              </a:ext>
            </a:extLst>
          </p:cNvPr>
          <p:cNvSpPr txBox="1"/>
          <p:nvPr/>
        </p:nvSpPr>
        <p:spPr>
          <a:xfrm>
            <a:off x="609600" y="46482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800" b="1" spc="140">
                <a:solidFill>
                  <a:srgbClr val="7F7F7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COMMUNICATION   /   PRESENCE   /   CONNECTION</a:t>
            </a:r>
            <a:endParaRPr lang="zh-CN" altLang="en-US" sz="800" b="1" spc="140">
              <a:solidFill>
                <a:srgbClr val="7F7F79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03882A-CB52-D382-1BA0-491F095B441B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3861086-362C-6BAA-2025-C47C00C8A493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MY JOURNEY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750A73-58F1-0ECF-DD49-639694CEFD2C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11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464297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320"/>
                            </p:stCondLst>
                            <p:childTnLst>
                              <p:par>
                                <p:cTn id="22" presetID="23" presetClass="entr" presetSubtype="16" fill="hold" grpId="0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7DB0B-FDAA-8E1B-4F1D-2D0AF7F81793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05 / SIX MOMENTS · ONE STORY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2D7FB-FB70-EE3A-6C98-666E9A5CCF5C}"/>
              </a:ext>
            </a:extLst>
          </p:cNvPr>
          <p:cNvSpPr txBox="1"/>
          <p:nvPr/>
        </p:nvSpPr>
        <p:spPr>
          <a:xfrm>
            <a:off x="7112000" y="660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200" b="1">
                <a:solidFill>
                  <a:srgbClr val="1B1C1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05</a:t>
            </a:r>
            <a:endParaRPr lang="zh-CN" altLang="en-US" sz="11200" b="1">
              <a:solidFill>
                <a:srgbClr val="1B1C1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FCDC7-DA3A-2A85-1454-69AE142579C5}"/>
              </a:ext>
            </a:extLst>
          </p:cNvPr>
          <p:cNvSpPr txBox="1"/>
          <p:nvPr/>
        </p:nvSpPr>
        <p:spPr>
          <a:xfrm>
            <a:off x="7239000" y="10922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4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Welcome Party</a:t>
            </a:r>
            <a:endParaRPr lang="zh-CN" altLang="en-US" sz="4200" b="1">
              <a:solidFill>
                <a:srgbClr val="E9F0F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26DE6-857A-E258-2C28-CA002F8DA401}"/>
              </a:ext>
            </a:extLst>
          </p:cNvPr>
          <p:cNvSpPr txBox="1"/>
          <p:nvPr/>
        </p:nvSpPr>
        <p:spPr>
          <a:xfrm>
            <a:off x="7239000" y="1955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22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People make the event.</a:t>
            </a:r>
            <a:endParaRPr lang="zh-CN" altLang="en-US" sz="22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3C986-3601-1E23-645D-70CA601BCC75}"/>
              </a:ext>
            </a:extLst>
          </p:cNvPr>
          <p:cNvSpPr txBox="1"/>
          <p:nvPr/>
        </p:nvSpPr>
        <p:spPr>
          <a:xfrm>
            <a:off x="7239000" y="2692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Welcome Party </a:t>
            </a:r>
            <a:r>
              <a:rPr lang="zh-CN" altLang="en-US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是我很喜欢的一类活动，因为它让我看到社团最有生命力的一面。</a:t>
            </a:r>
          </a:p>
          <a:p>
            <a:r>
              <a:rPr lang="zh-CN" altLang="en-US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大家从陌生到熟悉，也让我越来越确定：一个好的活动，不只是把流程完成，而是真的创造一个让人愿意留下来的环境。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858648-709F-C0F7-A579-45AA06C3D7EA}"/>
              </a:ext>
            </a:extLst>
          </p:cNvPr>
          <p:cNvSpPr/>
          <p:nvPr/>
        </p:nvSpPr>
        <p:spPr>
          <a:xfrm rot="-72000">
            <a:off x="609600" y="1041400"/>
            <a:ext cx="4572000" cy="3429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441E2A-5FC2-495E-E19F-F897E478D247}"/>
              </a:ext>
            </a:extLst>
          </p:cNvPr>
          <p:cNvSpPr/>
          <p:nvPr/>
        </p:nvSpPr>
        <p:spPr>
          <a:xfrm rot="90000">
            <a:off x="3467100" y="3238500"/>
            <a:ext cx="3365500" cy="23114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CF25FD-48F9-9088-61EB-AF6E1F44AE77}"/>
              </a:ext>
            </a:extLst>
          </p:cNvPr>
          <p:cNvSpPr/>
          <p:nvPr/>
        </p:nvSpPr>
        <p:spPr>
          <a:xfrm rot="-42000">
            <a:off x="1168400" y="4419600"/>
            <a:ext cx="3111500" cy="16256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B5257-AE89-4E4B-7820-B033DED7916C}"/>
              </a:ext>
            </a:extLst>
          </p:cNvPr>
          <p:cNvSpPr/>
          <p:nvPr/>
        </p:nvSpPr>
        <p:spPr>
          <a:xfrm>
            <a:off x="4419600" y="3111500"/>
            <a:ext cx="889000" cy="228600"/>
          </a:xfrm>
          <a:prstGeom prst="rect">
            <a:avLst/>
          </a:prstGeom>
          <a:solidFill>
            <a:srgbClr val="FF5A1F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908D9D-0AA5-BAA0-3608-2D2417B837C2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9AC8212-63DA-92CA-F2A4-7F0FC64FB8D1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MY JOURNEY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2D65BA-BD7B-17A6-E06D-DF4BD2490316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12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93985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300"/>
                            </p:stCondLst>
                            <p:childTnLst>
                              <p:par>
                                <p:cTn id="22" presetID="2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00"/>
                            </p:stCondLst>
                            <p:childTnLst>
                              <p:par>
                                <p:cTn id="27" presetID="2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10EA9F-D9E8-627C-9885-0C23FE492DA6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06 / SIX MOMENTS · ONE STORY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C80CB-E3B3-000B-F070-A8576FF60D2A}"/>
              </a:ext>
            </a:extLst>
          </p:cNvPr>
          <p:cNvSpPr txBox="1"/>
          <p:nvPr/>
        </p:nvSpPr>
        <p:spPr>
          <a:xfrm>
            <a:off x="482600" y="660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1200" b="1">
                <a:solidFill>
                  <a:srgbClr val="1B1C1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06</a:t>
            </a:r>
            <a:endParaRPr lang="zh-CN" altLang="en-US" sz="11200" b="1">
              <a:solidFill>
                <a:srgbClr val="1B1C1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450740-348E-746F-1B4D-04519171E005}"/>
              </a:ext>
            </a:extLst>
          </p:cNvPr>
          <p:cNvSpPr txBox="1"/>
          <p:nvPr/>
        </p:nvSpPr>
        <p:spPr>
          <a:xfrm>
            <a:off x="609600" y="10922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紫金宣讲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C2282-614D-5131-066F-596BD2BC8DC1}"/>
              </a:ext>
            </a:extLst>
          </p:cNvPr>
          <p:cNvSpPr txBox="1"/>
          <p:nvPr/>
        </p:nvSpPr>
        <p:spPr>
          <a:xfrm>
            <a:off x="609600" y="19558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22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From campus to outside.</a:t>
            </a:r>
            <a:endParaRPr lang="zh-CN" altLang="en-US" sz="22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1D26AF-8934-AEFB-0A69-8AA79D2572A4}"/>
              </a:ext>
            </a:extLst>
          </p:cNvPr>
          <p:cNvSpPr txBox="1"/>
          <p:nvPr/>
        </p:nvSpPr>
        <p:spPr>
          <a:xfrm>
            <a:off x="609600" y="2692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如果说前面的活动更多让我认识了社团内部的连接，那么宣讲活动让我进一步接触到外联更核心的一面</a:t>
            </a:r>
            <a:r>
              <a:rPr lang="en-US" altLang="zh-CN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社团和外部资源之间的连接。</a:t>
            </a:r>
          </a:p>
          <a:p>
            <a:r>
              <a:rPr lang="zh-CN" altLang="en-US" sz="15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如何沟通、如何理解双方需求、如何让一次合作真正对彼此有价值，是我觉得外联最值得学习的地方。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85CE7F-CAC8-92EB-9783-354BC1CD4746}"/>
              </a:ext>
            </a:extLst>
          </p:cNvPr>
          <p:cNvSpPr/>
          <p:nvPr/>
        </p:nvSpPr>
        <p:spPr>
          <a:xfrm>
            <a:off x="5207000" y="1333500"/>
            <a:ext cx="5778500" cy="41910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102390" dir="3615318" rotWithShape="0">
              <a:srgbClr val="000000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1C4B21-35DE-CA1A-939D-A8391C0B91A2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320B582-D441-F0C8-0E1D-6DC277F03E07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MY JOURNEY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159AC2-FEF0-EA43-104F-F3632F987500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13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08109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6CFF4-B71C-0F29-2D44-DA6797FA417E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 / WHAT IT MEANS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E2E278-E2B1-7CBA-B739-62EC33335160}"/>
              </a:ext>
            </a:extLst>
          </p:cNvPr>
          <p:cNvSpPr txBox="1"/>
          <p:nvPr/>
        </p:nvSpPr>
        <p:spPr>
          <a:xfrm>
            <a:off x="533400" y="9525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AU" altLang="zh-CN" sz="12600" b="1" spc="-200">
                <a:solidFill>
                  <a:srgbClr val="17181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CONNECTION</a:t>
            </a:r>
            <a:endParaRPr lang="zh-CN" altLang="en-US" sz="12600" b="1" spc="-200">
              <a:solidFill>
                <a:srgbClr val="17181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15C862-18CE-988A-D19F-C630D66AEC11}"/>
              </a:ext>
            </a:extLst>
          </p:cNvPr>
          <p:cNvSpPr txBox="1"/>
          <p:nvPr/>
        </p:nvSpPr>
        <p:spPr>
          <a:xfrm>
            <a:off x="2768600" y="22860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5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我理解的外联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05195-9063-DB53-F4FA-BECFD9BEE428}"/>
              </a:ext>
            </a:extLst>
          </p:cNvPr>
          <p:cNvSpPr txBox="1"/>
          <p:nvPr/>
        </p:nvSpPr>
        <p:spPr>
          <a:xfrm>
            <a:off x="2768600" y="3454400"/>
            <a:ext cx="6667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AU" altLang="zh-CN" sz="20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Not just reaching out.</a:t>
            </a:r>
            <a:endParaRPr lang="zh-CN" altLang="en-US" sz="20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2D9845-5C13-568A-0E38-87DAA7F8F1A6}"/>
              </a:ext>
            </a:extLst>
          </p:cNvPr>
          <p:cNvSpPr txBox="1"/>
          <p:nvPr/>
        </p:nvSpPr>
        <p:spPr>
          <a:xfrm>
            <a:off x="2857500" y="42926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500">
                <a:solidFill>
                  <a:srgbClr val="B3B2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经历过这些活动以后，我对外联的理解也慢慢发生了变化。</a:t>
            </a:r>
          </a:p>
          <a:p>
            <a:pPr algn="ctr"/>
            <a:r>
              <a:rPr lang="zh-CN" altLang="en-US" sz="1500">
                <a:solidFill>
                  <a:srgbClr val="B3B2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它当然包括沟通、合作和资源，但我觉得真正重要的，是把人、资源和一场活动需要解决的问题连接起来。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80B22C-7D1A-DFF0-B22C-44E58ECEA87E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40586D-731E-22DB-46F4-85708734E2EF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WHAT IT MEANS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3ADE5A-5FB8-C599-3A97-8B9797E1C7EC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14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83836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08FEC9-BF75-D928-5EC9-0CD92F0363A2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 / WHAT IT MEANS · 01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7E103-41EE-C11E-F9B0-B4956C15118A}"/>
              </a:ext>
            </a:extLst>
          </p:cNvPr>
          <p:cNvSpPr txBox="1"/>
          <p:nvPr/>
        </p:nvSpPr>
        <p:spPr>
          <a:xfrm rot="-5400000">
            <a:off x="457200" y="7112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600" spc="-100">
                <a:solidFill>
                  <a:srgbClr val="1B1C1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Communication</a:t>
            </a:r>
            <a:endParaRPr lang="zh-CN" altLang="en-US" sz="7600" spc="-100">
              <a:solidFill>
                <a:srgbClr val="1B1C1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C02E33-E02A-8D62-B941-81A92B531032}"/>
              </a:ext>
            </a:extLst>
          </p:cNvPr>
          <p:cNvCxnSpPr/>
          <p:nvPr/>
        </p:nvCxnSpPr>
        <p:spPr>
          <a:xfrm flipV="1">
            <a:off x="2159000" y="1905000"/>
            <a:ext cx="3937000" cy="2667000"/>
          </a:xfrm>
          <a:prstGeom prst="line">
            <a:avLst/>
          </a:prstGeom>
          <a:ln w="25400" cap="flat" cmpd="sng" algn="ctr">
            <a:solidFill>
              <a:srgbClr val="FF5A1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DAB9B1CF-445B-8874-C82A-442B3A632EBA}"/>
              </a:ext>
            </a:extLst>
          </p:cNvPr>
          <p:cNvSpPr/>
          <p:nvPr/>
        </p:nvSpPr>
        <p:spPr>
          <a:xfrm>
            <a:off x="1790700" y="4203700"/>
            <a:ext cx="736600" cy="736600"/>
          </a:xfrm>
          <a:prstGeom prst="ellipse">
            <a:avLst/>
          </a:prstGeom>
          <a:solidFill>
            <a:srgbClr val="181918">
              <a:alpha val="98000"/>
            </a:srgbClr>
          </a:solidFill>
          <a:ln w="13970">
            <a:solidFill>
              <a:srgbClr val="48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259299-CF8E-E305-7B4C-CC5831856B25}"/>
              </a:ext>
            </a:extLst>
          </p:cNvPr>
          <p:cNvSpPr txBox="1"/>
          <p:nvPr/>
        </p:nvSpPr>
        <p:spPr>
          <a:xfrm>
            <a:off x="1879600" y="4445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100" b="1" spc="130">
                <a:solidFill>
                  <a:srgbClr val="E9F0F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  <a:endParaRPr lang="zh-CN" altLang="en-US" sz="1100" b="1" spc="130">
              <a:solidFill>
                <a:srgbClr val="E9F0F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9B4089-A513-1268-C014-04F80B80B717}"/>
              </a:ext>
            </a:extLst>
          </p:cNvPr>
          <p:cNvSpPr/>
          <p:nvPr/>
        </p:nvSpPr>
        <p:spPr>
          <a:xfrm>
            <a:off x="2404533" y="4326467"/>
            <a:ext cx="88900" cy="88900"/>
          </a:xfrm>
          <a:prstGeom prst="roundRect">
            <a:avLst/>
          </a:prstGeom>
          <a:solidFill>
            <a:srgbClr val="FF5A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945F04-FBA7-0461-266A-30E54C6BA146}"/>
              </a:ext>
            </a:extLst>
          </p:cNvPr>
          <p:cNvSpPr/>
          <p:nvPr/>
        </p:nvSpPr>
        <p:spPr>
          <a:xfrm>
            <a:off x="5600700" y="1409700"/>
            <a:ext cx="990600" cy="990600"/>
          </a:xfrm>
          <a:prstGeom prst="ellipse">
            <a:avLst/>
          </a:prstGeom>
          <a:solidFill>
            <a:srgbClr val="181918">
              <a:alpha val="98000"/>
            </a:srgbClr>
          </a:solidFill>
          <a:ln w="13970">
            <a:solidFill>
              <a:srgbClr val="48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FC83A-4466-7E27-112E-03AA6A93F6DA}"/>
              </a:ext>
            </a:extLst>
          </p:cNvPr>
          <p:cNvSpPr txBox="1"/>
          <p:nvPr/>
        </p:nvSpPr>
        <p:spPr>
          <a:xfrm>
            <a:off x="5816600" y="1778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100" b="1" spc="130">
                <a:solidFill>
                  <a:srgbClr val="E9F0F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  <a:endParaRPr lang="zh-CN" altLang="en-US" sz="1100" b="1" spc="130">
              <a:solidFill>
                <a:srgbClr val="E9F0F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EC24EE-A1B0-B315-B38E-E11047EE59F8}"/>
              </a:ext>
            </a:extLst>
          </p:cNvPr>
          <p:cNvSpPr/>
          <p:nvPr/>
        </p:nvSpPr>
        <p:spPr>
          <a:xfrm>
            <a:off x="6426200" y="1574800"/>
            <a:ext cx="88900" cy="88900"/>
          </a:xfrm>
          <a:prstGeom prst="roundRect">
            <a:avLst/>
          </a:prstGeom>
          <a:solidFill>
            <a:srgbClr val="FF5A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220447-A45C-A872-8AD8-E072D2A35B5E}"/>
              </a:ext>
            </a:extLst>
          </p:cNvPr>
          <p:cNvSpPr txBox="1"/>
          <p:nvPr/>
        </p:nvSpPr>
        <p:spPr>
          <a:xfrm>
            <a:off x="7874000" y="12065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沟通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0F5730-B9D4-F9A6-29F6-1598191E914F}"/>
              </a:ext>
            </a:extLst>
          </p:cNvPr>
          <p:cNvSpPr txBox="1"/>
          <p:nvPr/>
        </p:nvSpPr>
        <p:spPr>
          <a:xfrm>
            <a:off x="7874000" y="21336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14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Communication</a:t>
            </a:r>
            <a:endParaRPr lang="zh-CN" altLang="en-US" sz="14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DCEEE9-CF61-B7AB-8B6F-7891E37AC5BF}"/>
              </a:ext>
            </a:extLst>
          </p:cNvPr>
          <p:cNvSpPr txBox="1"/>
          <p:nvPr/>
        </p:nvSpPr>
        <p:spPr>
          <a:xfrm>
            <a:off x="7874000" y="28321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B5B4A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外联首先是沟通，但我理解的沟通并不是单纯“把话说出去”。</a:t>
            </a:r>
          </a:p>
          <a:p>
            <a:r>
              <a:rPr lang="zh-CN" altLang="en-US" sz="1500">
                <a:solidFill>
                  <a:srgbClr val="B5B4A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更重要的是知道对方在意什么、我们需要什么，以及如何找到双方都愿意继续合作的交集。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061D71-FB5F-E2E8-B6AD-7FDE04985883}"/>
              </a:ext>
            </a:extLst>
          </p:cNvPr>
          <p:cNvSpPr txBox="1"/>
          <p:nvPr/>
        </p:nvSpPr>
        <p:spPr>
          <a:xfrm>
            <a:off x="7874000" y="46355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1900" i="1">
                <a:solidFill>
                  <a:srgbClr val="E9F0F2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Listen first. Then connect.</a:t>
            </a:r>
            <a:endParaRPr lang="zh-CN" altLang="en-US" sz="1900" i="1">
              <a:solidFill>
                <a:srgbClr val="E9F0F2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0A79FD-67E7-DAEC-E358-3092AB51BA0A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DA1106A-123E-A231-9400-D52E3EF1BE1B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WHAT IT MEANS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41F5EA-077B-5E8B-0B49-0B11AB864F19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15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4757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CDB8B5-C35C-6691-FB76-A24064AF6E28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 / WHAT IT MEANS · 02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796659-BD05-67EB-7ED9-473C1D900A69}"/>
              </a:ext>
            </a:extLst>
          </p:cNvPr>
          <p:cNvSpPr txBox="1"/>
          <p:nvPr/>
        </p:nvSpPr>
        <p:spPr>
          <a:xfrm rot="-5400000">
            <a:off x="457200" y="7112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600" spc="-100">
                <a:solidFill>
                  <a:srgbClr val="1B1C1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Connection</a:t>
            </a:r>
            <a:endParaRPr lang="zh-CN" altLang="en-US" sz="7600" spc="-100">
              <a:solidFill>
                <a:srgbClr val="1B1C1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C44A9F-B967-B7B8-091C-95F3A18EDC08}"/>
              </a:ext>
            </a:extLst>
          </p:cNvPr>
          <p:cNvCxnSpPr/>
          <p:nvPr/>
        </p:nvCxnSpPr>
        <p:spPr>
          <a:xfrm>
            <a:off x="1905000" y="2222500"/>
            <a:ext cx="2413000" cy="1270000"/>
          </a:xfrm>
          <a:prstGeom prst="line">
            <a:avLst/>
          </a:prstGeom>
          <a:ln w="22860" cap="flat" cmpd="sng" algn="ctr">
            <a:solidFill>
              <a:srgbClr val="FF5A1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8A8ABD-8E29-C9E8-DEF1-CA38B6657248}"/>
              </a:ext>
            </a:extLst>
          </p:cNvPr>
          <p:cNvCxnSpPr/>
          <p:nvPr/>
        </p:nvCxnSpPr>
        <p:spPr>
          <a:xfrm>
            <a:off x="4318000" y="3492500"/>
            <a:ext cx="2286000" cy="1143000"/>
          </a:xfrm>
          <a:prstGeom prst="line">
            <a:avLst/>
          </a:prstGeom>
          <a:ln w="22860" cap="flat" cmpd="sng" algn="ctr">
            <a:solidFill>
              <a:srgbClr val="FF5A1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C2C01A8-E6C4-13E4-EDBF-BC415A04E525}"/>
              </a:ext>
            </a:extLst>
          </p:cNvPr>
          <p:cNvSpPr/>
          <p:nvPr/>
        </p:nvSpPr>
        <p:spPr>
          <a:xfrm>
            <a:off x="1498600" y="1816100"/>
            <a:ext cx="812800" cy="812800"/>
          </a:xfrm>
          <a:prstGeom prst="ellipse">
            <a:avLst/>
          </a:prstGeom>
          <a:solidFill>
            <a:srgbClr val="181918">
              <a:alpha val="98000"/>
            </a:srgbClr>
          </a:solidFill>
          <a:ln w="13970">
            <a:solidFill>
              <a:srgbClr val="48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C3221-6DE1-38B6-8C3A-DCDB3E0F47D8}"/>
              </a:ext>
            </a:extLst>
          </p:cNvPr>
          <p:cNvSpPr txBox="1"/>
          <p:nvPr/>
        </p:nvSpPr>
        <p:spPr>
          <a:xfrm>
            <a:off x="1625600" y="20955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100" b="1" spc="130">
                <a:solidFill>
                  <a:srgbClr val="E9F0F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  <a:endParaRPr lang="zh-CN" altLang="en-US" sz="1100" b="1" spc="130">
              <a:solidFill>
                <a:srgbClr val="E9F0F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C354B9-E109-E15F-70B4-EA37E9315134}"/>
              </a:ext>
            </a:extLst>
          </p:cNvPr>
          <p:cNvSpPr/>
          <p:nvPr/>
        </p:nvSpPr>
        <p:spPr>
          <a:xfrm>
            <a:off x="2175933" y="1951567"/>
            <a:ext cx="88900" cy="88900"/>
          </a:xfrm>
          <a:prstGeom prst="roundRect">
            <a:avLst/>
          </a:prstGeom>
          <a:solidFill>
            <a:srgbClr val="FF5A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803EDA-4223-FED1-6874-2E377446B2ED}"/>
              </a:ext>
            </a:extLst>
          </p:cNvPr>
          <p:cNvSpPr/>
          <p:nvPr/>
        </p:nvSpPr>
        <p:spPr>
          <a:xfrm>
            <a:off x="3848100" y="3022600"/>
            <a:ext cx="939800" cy="939800"/>
          </a:xfrm>
          <a:prstGeom prst="ellipse">
            <a:avLst/>
          </a:prstGeom>
          <a:solidFill>
            <a:srgbClr val="181918">
              <a:alpha val="98000"/>
            </a:srgbClr>
          </a:solidFill>
          <a:ln w="13970">
            <a:solidFill>
              <a:srgbClr val="48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D32B40-4BE6-6166-CD56-56F65E632F12}"/>
              </a:ext>
            </a:extLst>
          </p:cNvPr>
          <p:cNvSpPr txBox="1"/>
          <p:nvPr/>
        </p:nvSpPr>
        <p:spPr>
          <a:xfrm>
            <a:off x="4038600" y="33655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100" b="1" spc="130">
                <a:solidFill>
                  <a:srgbClr val="E9F0F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  <a:endParaRPr lang="zh-CN" altLang="en-US" sz="1100" b="1" spc="130">
              <a:solidFill>
                <a:srgbClr val="E9F0F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F4503F-E245-DD25-0AC5-EBC06F7A4AF6}"/>
              </a:ext>
            </a:extLst>
          </p:cNvPr>
          <p:cNvSpPr/>
          <p:nvPr/>
        </p:nvSpPr>
        <p:spPr>
          <a:xfrm>
            <a:off x="4631267" y="3179233"/>
            <a:ext cx="88900" cy="88900"/>
          </a:xfrm>
          <a:prstGeom prst="roundRect">
            <a:avLst/>
          </a:prstGeom>
          <a:solidFill>
            <a:srgbClr val="FF5A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F3D2961-69EB-8131-BA90-8FA5B30250D5}"/>
              </a:ext>
            </a:extLst>
          </p:cNvPr>
          <p:cNvSpPr/>
          <p:nvPr/>
        </p:nvSpPr>
        <p:spPr>
          <a:xfrm>
            <a:off x="6197600" y="4229100"/>
            <a:ext cx="812800" cy="812800"/>
          </a:xfrm>
          <a:prstGeom prst="ellipse">
            <a:avLst/>
          </a:prstGeom>
          <a:solidFill>
            <a:srgbClr val="181918">
              <a:alpha val="98000"/>
            </a:srgbClr>
          </a:solidFill>
          <a:ln w="13970">
            <a:solidFill>
              <a:srgbClr val="48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CDD4CA-0147-F402-BD47-5FC51FA070A4}"/>
              </a:ext>
            </a:extLst>
          </p:cNvPr>
          <p:cNvSpPr txBox="1"/>
          <p:nvPr/>
        </p:nvSpPr>
        <p:spPr>
          <a:xfrm>
            <a:off x="6324600" y="45085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100" b="1" spc="130">
                <a:solidFill>
                  <a:srgbClr val="E9F0F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  <a:endParaRPr lang="zh-CN" altLang="en-US" sz="1100" b="1" spc="130">
              <a:solidFill>
                <a:srgbClr val="E9F0F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93AE61-D8D1-6963-5581-51E387F16E16}"/>
              </a:ext>
            </a:extLst>
          </p:cNvPr>
          <p:cNvSpPr/>
          <p:nvPr/>
        </p:nvSpPr>
        <p:spPr>
          <a:xfrm>
            <a:off x="6874933" y="4364567"/>
            <a:ext cx="88900" cy="88900"/>
          </a:xfrm>
          <a:prstGeom prst="roundRect">
            <a:avLst/>
          </a:prstGeom>
          <a:solidFill>
            <a:srgbClr val="FF5A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20DE58-556E-17CC-396E-A8BDEDBEC0AD}"/>
              </a:ext>
            </a:extLst>
          </p:cNvPr>
          <p:cNvSpPr txBox="1"/>
          <p:nvPr/>
        </p:nvSpPr>
        <p:spPr>
          <a:xfrm>
            <a:off x="7874000" y="12065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A2516E-BBC3-0862-B300-6ED6FC8375E0}"/>
              </a:ext>
            </a:extLst>
          </p:cNvPr>
          <p:cNvSpPr txBox="1"/>
          <p:nvPr/>
        </p:nvSpPr>
        <p:spPr>
          <a:xfrm>
            <a:off x="7874000" y="21336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14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Connection</a:t>
            </a:r>
            <a:endParaRPr lang="zh-CN" altLang="en-US" sz="14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3C5D5D-CB52-F18B-83C6-2C8ABE1B9D7C}"/>
              </a:ext>
            </a:extLst>
          </p:cNvPr>
          <p:cNvSpPr txBox="1"/>
          <p:nvPr/>
        </p:nvSpPr>
        <p:spPr>
          <a:xfrm>
            <a:off x="7874000" y="28321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B5B4A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资源本身不会自动变成价值。</a:t>
            </a:r>
          </a:p>
          <a:p>
            <a:r>
              <a:rPr lang="zh-CN" altLang="en-US" sz="1500">
                <a:solidFill>
                  <a:srgbClr val="B5B4A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外联真正需要做的，是判断什么资源适合什么活动，再把合适的人、合作方和需求连接起来。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C63906-C223-07BD-FB30-D9C8270C7CE3}"/>
              </a:ext>
            </a:extLst>
          </p:cNvPr>
          <p:cNvSpPr txBox="1"/>
          <p:nvPr/>
        </p:nvSpPr>
        <p:spPr>
          <a:xfrm>
            <a:off x="7874000" y="46355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i="1">
                <a:solidFill>
                  <a:srgbClr val="E9F0F2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The right connection matters more than more connections.</a:t>
            </a:r>
            <a:endParaRPr lang="zh-CN" altLang="en-US" sz="1900" i="1">
              <a:solidFill>
                <a:srgbClr val="E9F0F2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63696E-D416-8498-67A2-2185FD0E5968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8AFBAC-4435-14F6-086D-AC06331EF830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WHAT IT MEANS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ADCE31-DC46-F212-2E6A-C0FA73D5091A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16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7759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FEB8BB-8A99-6E7C-1AFE-3F2B3E4C004D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 / WHAT IT MEANS · 03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07FC9A-C1F4-B72C-95E5-3ECD07E8DF95}"/>
              </a:ext>
            </a:extLst>
          </p:cNvPr>
          <p:cNvSpPr txBox="1"/>
          <p:nvPr/>
        </p:nvSpPr>
        <p:spPr>
          <a:xfrm rot="-5400000">
            <a:off x="457200" y="7112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600" spc="-100">
                <a:solidFill>
                  <a:srgbClr val="1B1C1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Execution</a:t>
            </a:r>
            <a:endParaRPr lang="zh-CN" altLang="en-US" sz="7600" spc="-100">
              <a:solidFill>
                <a:srgbClr val="1B1C1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90925D-3E49-4387-CEF4-26F49A63B6D8}"/>
              </a:ext>
            </a:extLst>
          </p:cNvPr>
          <p:cNvCxnSpPr/>
          <p:nvPr/>
        </p:nvCxnSpPr>
        <p:spPr>
          <a:xfrm flipV="1">
            <a:off x="3111500" y="3492500"/>
            <a:ext cx="1333500" cy="1714500"/>
          </a:xfrm>
          <a:prstGeom prst="line">
            <a:avLst/>
          </a:prstGeom>
          <a:ln w="21590" cap="flat" cmpd="sng" algn="ctr">
            <a:solidFill>
              <a:srgbClr val="FF5A1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93F00D-29D3-187D-27EA-5D9113B07852}"/>
              </a:ext>
            </a:extLst>
          </p:cNvPr>
          <p:cNvCxnSpPr/>
          <p:nvPr/>
        </p:nvCxnSpPr>
        <p:spPr>
          <a:xfrm flipV="1">
            <a:off x="4445000" y="1587500"/>
            <a:ext cx="1524000" cy="1905000"/>
          </a:xfrm>
          <a:prstGeom prst="line">
            <a:avLst/>
          </a:prstGeom>
          <a:ln w="21590" cap="flat" cmpd="sng" algn="ctr">
            <a:solidFill>
              <a:srgbClr val="FF5A1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C97173-4064-33C7-0FC7-A68FC64B3D38}"/>
              </a:ext>
            </a:extLst>
          </p:cNvPr>
          <p:cNvCxnSpPr/>
          <p:nvPr/>
        </p:nvCxnSpPr>
        <p:spPr>
          <a:xfrm flipV="1">
            <a:off x="3302000" y="1333500"/>
            <a:ext cx="2857500" cy="4127500"/>
          </a:xfrm>
          <a:prstGeom prst="line">
            <a:avLst/>
          </a:prstGeom>
          <a:ln w="15240" cap="flat" cmpd="sng" algn="ctr">
            <a:solidFill>
              <a:srgbClr val="25262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2E9A97E-09C7-807C-C42E-D949AF3DF296}"/>
              </a:ext>
            </a:extLst>
          </p:cNvPr>
          <p:cNvSpPr/>
          <p:nvPr/>
        </p:nvSpPr>
        <p:spPr>
          <a:xfrm>
            <a:off x="2768600" y="4864100"/>
            <a:ext cx="685800" cy="685800"/>
          </a:xfrm>
          <a:prstGeom prst="ellipse">
            <a:avLst/>
          </a:prstGeom>
          <a:solidFill>
            <a:srgbClr val="181918">
              <a:alpha val="98000"/>
            </a:srgbClr>
          </a:solidFill>
          <a:ln w="13970">
            <a:solidFill>
              <a:srgbClr val="48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718D1-4CB4-51DA-BC44-D69B37E22155}"/>
              </a:ext>
            </a:extLst>
          </p:cNvPr>
          <p:cNvSpPr txBox="1"/>
          <p:nvPr/>
        </p:nvSpPr>
        <p:spPr>
          <a:xfrm>
            <a:off x="2832100" y="5080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100" b="1" spc="130">
                <a:solidFill>
                  <a:srgbClr val="E9F0F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</a:t>
            </a:r>
            <a:endParaRPr lang="zh-CN" altLang="en-US" sz="1100" b="1" spc="130">
              <a:solidFill>
                <a:srgbClr val="E9F0F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8203FAA-F833-DAB4-7EC6-04C7E72BCFFB}"/>
              </a:ext>
            </a:extLst>
          </p:cNvPr>
          <p:cNvSpPr/>
          <p:nvPr/>
        </p:nvSpPr>
        <p:spPr>
          <a:xfrm>
            <a:off x="3340100" y="4978400"/>
            <a:ext cx="88900" cy="88900"/>
          </a:xfrm>
          <a:prstGeom prst="roundRect">
            <a:avLst/>
          </a:prstGeom>
          <a:solidFill>
            <a:srgbClr val="FF5A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6FF5696-2802-B3A3-CF74-0F2D1CD6ED1B}"/>
              </a:ext>
            </a:extLst>
          </p:cNvPr>
          <p:cNvSpPr/>
          <p:nvPr/>
        </p:nvSpPr>
        <p:spPr>
          <a:xfrm>
            <a:off x="4013200" y="3060700"/>
            <a:ext cx="863600" cy="863600"/>
          </a:xfrm>
          <a:prstGeom prst="ellipse">
            <a:avLst/>
          </a:prstGeom>
          <a:solidFill>
            <a:srgbClr val="181918">
              <a:alpha val="98000"/>
            </a:srgbClr>
          </a:solidFill>
          <a:ln w="13970">
            <a:solidFill>
              <a:srgbClr val="48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8D804-DB4D-D2B5-653A-02385A0F3EC9}"/>
              </a:ext>
            </a:extLst>
          </p:cNvPr>
          <p:cNvSpPr txBox="1"/>
          <p:nvPr/>
        </p:nvSpPr>
        <p:spPr>
          <a:xfrm>
            <a:off x="4165600" y="33655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100" b="1" spc="130">
                <a:solidFill>
                  <a:srgbClr val="E9F0F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</a:t>
            </a:r>
            <a:endParaRPr lang="zh-CN" altLang="en-US" sz="1100" b="1" spc="130">
              <a:solidFill>
                <a:srgbClr val="E9F0F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53C3BB-F83D-1DA7-D915-85A29343AB29}"/>
              </a:ext>
            </a:extLst>
          </p:cNvPr>
          <p:cNvSpPr/>
          <p:nvPr/>
        </p:nvSpPr>
        <p:spPr>
          <a:xfrm>
            <a:off x="4732867" y="3204633"/>
            <a:ext cx="88900" cy="88900"/>
          </a:xfrm>
          <a:prstGeom prst="roundRect">
            <a:avLst/>
          </a:prstGeom>
          <a:solidFill>
            <a:srgbClr val="FF5A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BF9510-174D-3D90-EAD8-2F8867FAB5B1}"/>
              </a:ext>
            </a:extLst>
          </p:cNvPr>
          <p:cNvSpPr/>
          <p:nvPr/>
        </p:nvSpPr>
        <p:spPr>
          <a:xfrm>
            <a:off x="5448300" y="1066800"/>
            <a:ext cx="1041400" cy="1041400"/>
          </a:xfrm>
          <a:prstGeom prst="ellipse">
            <a:avLst/>
          </a:prstGeom>
          <a:solidFill>
            <a:srgbClr val="181918">
              <a:alpha val="98000"/>
            </a:srgbClr>
          </a:solidFill>
          <a:ln w="13970">
            <a:solidFill>
              <a:srgbClr val="48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C27330-8F14-C0B9-8622-C15DEC12DDDC}"/>
              </a:ext>
            </a:extLst>
          </p:cNvPr>
          <p:cNvSpPr txBox="1"/>
          <p:nvPr/>
        </p:nvSpPr>
        <p:spPr>
          <a:xfrm>
            <a:off x="5689600" y="14605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100" b="1" spc="130">
                <a:solidFill>
                  <a:srgbClr val="E9F0F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</a:t>
            </a:r>
            <a:endParaRPr lang="zh-CN" altLang="en-US" sz="1100" b="1" spc="130">
              <a:solidFill>
                <a:srgbClr val="E9F0F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C5D66A-78F9-98CF-6F2B-D66DD636E649}"/>
              </a:ext>
            </a:extLst>
          </p:cNvPr>
          <p:cNvSpPr/>
          <p:nvPr/>
        </p:nvSpPr>
        <p:spPr>
          <a:xfrm>
            <a:off x="6316133" y="1240367"/>
            <a:ext cx="88900" cy="88900"/>
          </a:xfrm>
          <a:prstGeom prst="roundRect">
            <a:avLst/>
          </a:prstGeom>
          <a:solidFill>
            <a:srgbClr val="FF5A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8B159B-ADCD-58B3-C154-DF81835C9D4C}"/>
              </a:ext>
            </a:extLst>
          </p:cNvPr>
          <p:cNvSpPr txBox="1"/>
          <p:nvPr/>
        </p:nvSpPr>
        <p:spPr>
          <a:xfrm>
            <a:off x="7874000" y="12065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落地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FAE678-1EDA-AEF1-7D29-1E055E435E66}"/>
              </a:ext>
            </a:extLst>
          </p:cNvPr>
          <p:cNvSpPr txBox="1"/>
          <p:nvPr/>
        </p:nvSpPr>
        <p:spPr>
          <a:xfrm>
            <a:off x="7874000" y="21336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14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Execution</a:t>
            </a:r>
            <a:endParaRPr lang="zh-CN" altLang="en-US" sz="14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F27114-B123-C496-F833-A01587B35FCA}"/>
              </a:ext>
            </a:extLst>
          </p:cNvPr>
          <p:cNvSpPr txBox="1"/>
          <p:nvPr/>
        </p:nvSpPr>
        <p:spPr>
          <a:xfrm>
            <a:off x="7874000" y="28321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B5B4A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一个合作从想法到真正发生，中间还有很多细节。</a:t>
            </a:r>
          </a:p>
          <a:p>
            <a:r>
              <a:rPr lang="zh-CN" altLang="en-US" sz="1500">
                <a:solidFill>
                  <a:srgbClr val="B5B4A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确认信息、沟通时间、协调现场、处理变化，这些看起来不显眼的事情，往往决定了一次合作最后是不是顺利。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762E1F-D30B-8CAF-941F-9CFDD023BF38}"/>
              </a:ext>
            </a:extLst>
          </p:cNvPr>
          <p:cNvSpPr txBox="1"/>
          <p:nvPr/>
        </p:nvSpPr>
        <p:spPr>
          <a:xfrm>
            <a:off x="7874000" y="46355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i="1">
                <a:solidFill>
                  <a:srgbClr val="E9F0F2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Ideas only matter when they land.</a:t>
            </a:r>
            <a:endParaRPr lang="zh-CN" altLang="en-US" sz="1900" i="1">
              <a:solidFill>
                <a:srgbClr val="E9F0F2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6E97F05-192E-2346-A4FB-7C5E16FD7F4E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6DA2B60-38B4-E859-374B-E0CE1FC589BE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WHAT IT MEANS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8FD610-8407-FB02-4278-A7CDD367846C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17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30104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11BF8-C24F-5C49-A7CF-DD98EC6B5D5B}"/>
              </a:ext>
            </a:extLst>
          </p:cNvPr>
          <p:cNvSpPr txBox="1"/>
          <p:nvPr/>
        </p:nvSpPr>
        <p:spPr>
          <a:xfrm>
            <a:off x="609600" y="4318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900" b="1" spc="22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 / WHAT IT MEANS · 04</a:t>
            </a:r>
            <a:endParaRPr lang="zh-CN" altLang="en-US" sz="900" b="1" spc="22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8B58CC-068F-6515-CF65-99D96A377802}"/>
              </a:ext>
            </a:extLst>
          </p:cNvPr>
          <p:cNvSpPr txBox="1"/>
          <p:nvPr/>
        </p:nvSpPr>
        <p:spPr>
          <a:xfrm rot="-5400000">
            <a:off x="457200" y="7112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600" spc="-100">
                <a:solidFill>
                  <a:srgbClr val="1B1C1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Responsibility</a:t>
            </a:r>
            <a:endParaRPr lang="zh-CN" altLang="en-US" sz="7600" spc="-100">
              <a:solidFill>
                <a:srgbClr val="1B1C1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8C97AA-9707-481E-4811-981B0189AF98}"/>
              </a:ext>
            </a:extLst>
          </p:cNvPr>
          <p:cNvSpPr/>
          <p:nvPr/>
        </p:nvSpPr>
        <p:spPr>
          <a:xfrm rot="720000">
            <a:off x="1460500" y="1308100"/>
            <a:ext cx="5778500" cy="4000500"/>
          </a:xfrm>
          <a:prstGeom prst="ellipse">
            <a:avLst/>
          </a:prstGeom>
          <a:noFill/>
          <a:ln w="25400" cap="flat" cmpd="sng" algn="ctr">
            <a:solidFill>
              <a:srgbClr val="FF5A1F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01E90F-DB51-839E-687C-6CCCF83D5FE4}"/>
              </a:ext>
            </a:extLst>
          </p:cNvPr>
          <p:cNvSpPr/>
          <p:nvPr/>
        </p:nvSpPr>
        <p:spPr>
          <a:xfrm rot="-900000">
            <a:off x="2159000" y="1905000"/>
            <a:ext cx="4381500" cy="2794000"/>
          </a:xfrm>
          <a:prstGeom prst="ellipse">
            <a:avLst/>
          </a:prstGeom>
          <a:noFill/>
          <a:ln w="12700" cap="flat" cmpd="sng" algn="ctr">
            <a:solidFill>
              <a:srgbClr val="373835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5A95FC-448D-B146-6D73-F15121DC50F4}"/>
              </a:ext>
            </a:extLst>
          </p:cNvPr>
          <p:cNvSpPr/>
          <p:nvPr/>
        </p:nvSpPr>
        <p:spPr>
          <a:xfrm>
            <a:off x="4343400" y="0"/>
            <a:ext cx="0" cy="0"/>
          </a:xfrm>
          <a:prstGeom prst="ellipse">
            <a:avLst/>
          </a:prstGeom>
          <a:solidFill>
            <a:srgbClr val="181918">
              <a:alpha val="98000"/>
            </a:srgbClr>
          </a:solidFill>
          <a:ln w="13970">
            <a:solidFill>
              <a:srgbClr val="48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37505-B424-9AF9-59BD-B2844A7E1DC7}"/>
              </a:ext>
            </a:extLst>
          </p:cNvPr>
          <p:cNvSpPr txBox="1"/>
          <p:nvPr/>
        </p:nvSpPr>
        <p:spPr>
          <a:xfrm>
            <a:off x="4064000" y="-127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zh-CN" altLang="en-US" sz="1100" b="1" spc="130">
              <a:solidFill>
                <a:srgbClr val="E9F0F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2FA825-73C1-52EE-B721-23E2B110A3CC}"/>
              </a:ext>
            </a:extLst>
          </p:cNvPr>
          <p:cNvSpPr/>
          <p:nvPr/>
        </p:nvSpPr>
        <p:spPr>
          <a:xfrm>
            <a:off x="4343400" y="0"/>
            <a:ext cx="88900" cy="88900"/>
          </a:xfrm>
          <a:prstGeom prst="roundRect">
            <a:avLst/>
          </a:prstGeom>
          <a:solidFill>
            <a:srgbClr val="FF5A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9766B31-FB36-1F77-BC0A-7CF602AB3774}"/>
              </a:ext>
            </a:extLst>
          </p:cNvPr>
          <p:cNvSpPr/>
          <p:nvPr/>
        </p:nvSpPr>
        <p:spPr>
          <a:xfrm>
            <a:off x="3238500" y="0"/>
            <a:ext cx="0" cy="0"/>
          </a:xfrm>
          <a:prstGeom prst="ellipse">
            <a:avLst/>
          </a:prstGeom>
          <a:solidFill>
            <a:srgbClr val="181918">
              <a:alpha val="98000"/>
            </a:srgbClr>
          </a:solidFill>
          <a:ln w="13970">
            <a:solidFill>
              <a:srgbClr val="48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443FFC-D614-8662-A8A4-FF910C4F47AC}"/>
              </a:ext>
            </a:extLst>
          </p:cNvPr>
          <p:cNvSpPr txBox="1"/>
          <p:nvPr/>
        </p:nvSpPr>
        <p:spPr>
          <a:xfrm>
            <a:off x="2959100" y="-127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zh-CN" altLang="en-US" sz="1100" b="1" spc="130">
              <a:solidFill>
                <a:srgbClr val="E9F0F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131472E-CCAF-66C6-50C0-5F2FF8C5F0FA}"/>
              </a:ext>
            </a:extLst>
          </p:cNvPr>
          <p:cNvSpPr/>
          <p:nvPr/>
        </p:nvSpPr>
        <p:spPr>
          <a:xfrm>
            <a:off x="3238500" y="0"/>
            <a:ext cx="88900" cy="88900"/>
          </a:xfrm>
          <a:prstGeom prst="roundRect">
            <a:avLst/>
          </a:prstGeom>
          <a:solidFill>
            <a:srgbClr val="FF5A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5CD39E-6F1C-C7DA-A3EF-78F716FD3273}"/>
              </a:ext>
            </a:extLst>
          </p:cNvPr>
          <p:cNvSpPr/>
          <p:nvPr/>
        </p:nvSpPr>
        <p:spPr>
          <a:xfrm>
            <a:off x="1168400" y="0"/>
            <a:ext cx="0" cy="0"/>
          </a:xfrm>
          <a:prstGeom prst="ellipse">
            <a:avLst/>
          </a:prstGeom>
          <a:solidFill>
            <a:srgbClr val="181918">
              <a:alpha val="98000"/>
            </a:srgbClr>
          </a:solidFill>
          <a:ln w="13970">
            <a:solidFill>
              <a:srgbClr val="48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FE5B37-1C8D-01D1-F2C1-227D21FCFCE4}"/>
              </a:ext>
            </a:extLst>
          </p:cNvPr>
          <p:cNvSpPr txBox="1"/>
          <p:nvPr/>
        </p:nvSpPr>
        <p:spPr>
          <a:xfrm>
            <a:off x="889000" y="-127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zh-CN" altLang="en-US" sz="1100" b="1" spc="130">
              <a:solidFill>
                <a:srgbClr val="E9F0F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F40DAD-5F12-82C9-2E05-469F08A12551}"/>
              </a:ext>
            </a:extLst>
          </p:cNvPr>
          <p:cNvSpPr/>
          <p:nvPr/>
        </p:nvSpPr>
        <p:spPr>
          <a:xfrm>
            <a:off x="1168400" y="0"/>
            <a:ext cx="88900" cy="88900"/>
          </a:xfrm>
          <a:prstGeom prst="roundRect">
            <a:avLst/>
          </a:prstGeom>
          <a:solidFill>
            <a:srgbClr val="FF5A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BD627A-BF1D-72F2-8AD0-227C7B96AA22}"/>
              </a:ext>
            </a:extLst>
          </p:cNvPr>
          <p:cNvSpPr/>
          <p:nvPr/>
        </p:nvSpPr>
        <p:spPr>
          <a:xfrm>
            <a:off x="609600" y="660400"/>
            <a:ext cx="0" cy="0"/>
          </a:xfrm>
          <a:prstGeom prst="ellipse">
            <a:avLst/>
          </a:prstGeom>
          <a:solidFill>
            <a:srgbClr val="181918">
              <a:alpha val="98000"/>
            </a:srgbClr>
          </a:solidFill>
          <a:ln w="13970">
            <a:solidFill>
              <a:srgbClr val="48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51FFD0-91BE-C94A-EE4F-3585719E6C2A}"/>
              </a:ext>
            </a:extLst>
          </p:cNvPr>
          <p:cNvSpPr txBox="1"/>
          <p:nvPr/>
        </p:nvSpPr>
        <p:spPr>
          <a:xfrm>
            <a:off x="330200" y="5334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endParaRPr lang="zh-CN" altLang="en-US" sz="1100" b="1" spc="130">
              <a:solidFill>
                <a:srgbClr val="E9F0F2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658D7EC-9281-A5A9-7CB2-37E5988E7080}"/>
              </a:ext>
            </a:extLst>
          </p:cNvPr>
          <p:cNvSpPr/>
          <p:nvPr/>
        </p:nvSpPr>
        <p:spPr>
          <a:xfrm>
            <a:off x="0" y="660400"/>
            <a:ext cx="88900" cy="88900"/>
          </a:xfrm>
          <a:prstGeom prst="roundRect">
            <a:avLst/>
          </a:prstGeom>
          <a:solidFill>
            <a:srgbClr val="FF5A1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A0F979-6376-C57B-FD31-B8C26237B1D1}"/>
              </a:ext>
            </a:extLst>
          </p:cNvPr>
          <p:cNvSpPr txBox="1"/>
          <p:nvPr/>
        </p:nvSpPr>
        <p:spPr>
          <a:xfrm>
            <a:off x="7874000" y="12065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责任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FF429-5B17-A880-56C3-AC4553C563BD}"/>
              </a:ext>
            </a:extLst>
          </p:cNvPr>
          <p:cNvSpPr txBox="1"/>
          <p:nvPr/>
        </p:nvSpPr>
        <p:spPr>
          <a:xfrm>
            <a:off x="7874000" y="21336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14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Responsibility</a:t>
            </a:r>
            <a:endParaRPr lang="zh-CN" altLang="en-US" sz="14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B7493F-D4AE-3B1C-D763-3D6D5352C896}"/>
              </a:ext>
            </a:extLst>
          </p:cNvPr>
          <p:cNvSpPr txBox="1"/>
          <p:nvPr/>
        </p:nvSpPr>
        <p:spPr>
          <a:xfrm>
            <a:off x="7874000" y="28321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B5B4A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如果成为副部，我觉得角色会从“完成自己的部分”变成“让整个团队更容易把事情做好”。</a:t>
            </a:r>
          </a:p>
          <a:p>
            <a:r>
              <a:rPr lang="zh-CN" altLang="en-US" sz="1500">
                <a:solidFill>
                  <a:srgbClr val="B5B4A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除了做好自己的工作，也需要帮助新人进入状态、承担沟通成本、及时补位，并把经验真正留下来。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1A8266-221F-2603-433B-2228E833C89C}"/>
              </a:ext>
            </a:extLst>
          </p:cNvPr>
          <p:cNvSpPr txBox="1"/>
          <p:nvPr/>
        </p:nvSpPr>
        <p:spPr>
          <a:xfrm>
            <a:off x="7874000" y="46355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900" i="1">
                <a:solidFill>
                  <a:srgbClr val="E9F0F2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Make the team better, not just myself busier.</a:t>
            </a:r>
            <a:endParaRPr lang="zh-CN" altLang="en-US" sz="1900" i="1">
              <a:solidFill>
                <a:srgbClr val="E9F0F2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FEC3756-AF6B-626E-CC2C-7A0C140AAF6A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65E3016-2A87-3F97-E210-55B3B7AD88AD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WHAT IT MEANS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7753DE-1BBF-A28B-4534-EF73C39BFE16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18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64512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B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2DF607-7FC4-060E-0FFB-19D5AD5F813C}"/>
              </a:ext>
            </a:extLst>
          </p:cNvPr>
          <p:cNvSpPr txBox="1"/>
          <p:nvPr/>
        </p:nvSpPr>
        <p:spPr>
          <a:xfrm>
            <a:off x="609600" y="431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900" b="1" spc="20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 / WHAT'S NEXT</a:t>
            </a:r>
            <a:endParaRPr lang="zh-CN" altLang="en-US" sz="900" b="1" spc="20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EA09C-B97D-0108-4532-3DBDD12894EF}"/>
              </a:ext>
            </a:extLst>
          </p:cNvPr>
          <p:cNvSpPr txBox="1"/>
          <p:nvPr/>
        </p:nvSpPr>
        <p:spPr>
          <a:xfrm>
            <a:off x="6540500" y="3810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AU" altLang="zh-CN" sz="17200" b="1" spc="-400">
                <a:solidFill>
                  <a:srgbClr val="DCD8C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NEXT</a:t>
            </a:r>
            <a:endParaRPr lang="zh-CN" altLang="en-US" sz="17200" b="1" spc="-400">
              <a:solidFill>
                <a:srgbClr val="DCD8CE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BC9736-4DD7-A043-A7B5-E80B1AFC8D32}"/>
              </a:ext>
            </a:extLst>
          </p:cNvPr>
          <p:cNvSpPr txBox="1"/>
          <p:nvPr/>
        </p:nvSpPr>
        <p:spPr>
          <a:xfrm>
            <a:off x="838200" y="15748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4800" b="1">
                <a:solidFill>
                  <a:srgbClr val="10111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如果我成为副部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359BEB-5865-4040-858C-2648DFF24EBA}"/>
              </a:ext>
            </a:extLst>
          </p:cNvPr>
          <p:cNvSpPr txBox="1"/>
          <p:nvPr/>
        </p:nvSpPr>
        <p:spPr>
          <a:xfrm>
            <a:off x="863600" y="26924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0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What I want to build next.</a:t>
            </a:r>
            <a:endParaRPr lang="zh-CN" altLang="en-US" sz="20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F6E8F-A117-3D54-C37A-DDD6273954C9}"/>
              </a:ext>
            </a:extLst>
          </p:cNvPr>
          <p:cNvSpPr txBox="1"/>
          <p:nvPr/>
        </p:nvSpPr>
        <p:spPr>
          <a:xfrm>
            <a:off x="876300" y="38354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4343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我不希望所谓的规划只是多做几个活动。</a:t>
            </a:r>
          </a:p>
          <a:p>
            <a:r>
              <a:rPr lang="zh-CN" altLang="en-US" sz="1700">
                <a:solidFill>
                  <a:srgbClr val="4343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如果有机会成为副部，我更希望把已经做得好的东西继续做好，同时让外联的一些工作变得更清楚、更容易接手，也更容易积累。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452768-809A-B925-9E54-0B8A5E26B998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18B39D6-1BAF-F516-ECA7-697D19B75439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WHAT'S NEXT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24361-DA8F-42E6-1CA0-7D83E1049725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19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6662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BA050C-9398-1FAA-D55E-91C8C0AAD047}"/>
              </a:ext>
            </a:extLst>
          </p:cNvPr>
          <p:cNvSpPr txBox="1"/>
          <p:nvPr/>
        </p:nvSpPr>
        <p:spPr>
          <a:xfrm>
            <a:off x="7747000" y="4318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3200" b="1">
                <a:solidFill>
                  <a:srgbClr val="1B1C1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001</a:t>
            </a:r>
            <a:endParaRPr lang="zh-CN" altLang="en-US" sz="13200" b="1">
              <a:solidFill>
                <a:srgbClr val="1B1C1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7B888C-961D-5E0C-0CC1-F7A5270C3353}"/>
              </a:ext>
            </a:extLst>
          </p:cNvPr>
          <p:cNvSpPr txBox="1"/>
          <p:nvPr/>
        </p:nvSpPr>
        <p:spPr>
          <a:xfrm>
            <a:off x="736600" y="7366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900" b="1" spc="21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PLAN 01</a:t>
            </a:r>
            <a:endParaRPr lang="zh-CN" altLang="en-US" sz="900" b="1" spc="21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CEF0F-CE55-7F96-31BC-26F25AF84CFA}"/>
              </a:ext>
            </a:extLst>
          </p:cNvPr>
          <p:cNvSpPr txBox="1"/>
          <p:nvPr/>
        </p:nvSpPr>
        <p:spPr>
          <a:xfrm>
            <a:off x="736600" y="14097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8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让经验留下来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F87AD-57C9-126B-6C55-C00418D4B785}"/>
              </a:ext>
            </a:extLst>
          </p:cNvPr>
          <p:cNvSpPr txBox="1"/>
          <p:nvPr/>
        </p:nvSpPr>
        <p:spPr>
          <a:xfrm>
            <a:off x="736600" y="22606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Build a shared memory.</a:t>
            </a:r>
            <a:endParaRPr lang="zh-CN" altLang="en-US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31A8BD-533C-ADA7-ED25-AA103CEA3045}"/>
              </a:ext>
            </a:extLst>
          </p:cNvPr>
          <p:cNvSpPr txBox="1"/>
          <p:nvPr/>
        </p:nvSpPr>
        <p:spPr>
          <a:xfrm>
            <a:off x="736600" y="30734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很多外联经验其实都存在于人的记忆里。</a:t>
            </a:r>
          </a:p>
          <a:p>
            <a:r>
              <a:rPr lang="zh-CN" altLang="en-US" sz="16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谁联系过什么合作方、什么沟通方式有效、活动哪里容易出问题，如果每一次都重新摸索，会浪费很多时间。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3E9709-DEED-76E3-F6C4-67EF7972EB9F}"/>
              </a:ext>
            </a:extLst>
          </p:cNvPr>
          <p:cNvCxnSpPr/>
          <p:nvPr/>
        </p:nvCxnSpPr>
        <p:spPr>
          <a:xfrm>
            <a:off x="736600" y="4724400"/>
            <a:ext cx="6502400" cy="0"/>
          </a:xfrm>
          <a:prstGeom prst="line">
            <a:avLst/>
          </a:prstGeom>
          <a:ln w="12700" cap="flat" cmpd="sng" algn="ctr">
            <a:solidFill>
              <a:srgbClr val="34353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1F46EF-29ED-0E53-2243-BB0DB4E9DEC0}"/>
              </a:ext>
            </a:extLst>
          </p:cNvPr>
          <p:cNvSpPr txBox="1"/>
          <p:nvPr/>
        </p:nvSpPr>
        <p:spPr>
          <a:xfrm>
            <a:off x="736600" y="50419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300" i="1">
                <a:solidFill>
                  <a:srgbClr val="E9F0F2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Don't start from zero every time.</a:t>
            </a:r>
            <a:endParaRPr lang="zh-CN" altLang="en-US" sz="2300" i="1">
              <a:solidFill>
                <a:srgbClr val="E9F0F2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8467B8-2D88-3CE5-5976-A803AE62F6AC}"/>
              </a:ext>
            </a:extLst>
          </p:cNvPr>
          <p:cNvSpPr txBox="1"/>
          <p:nvPr/>
        </p:nvSpPr>
        <p:spPr>
          <a:xfrm>
            <a:off x="8382000" y="3149600"/>
            <a:ext cx="311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合作方信息</a:t>
            </a:r>
          </a:p>
          <a:p>
            <a:r>
              <a:rPr lang="zh-CN" altLang="en-US" sz="14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历史合作情况</a:t>
            </a:r>
          </a:p>
          <a:p>
            <a:r>
              <a:rPr lang="zh-CN" altLang="en-US" sz="14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联系方式</a:t>
            </a:r>
          </a:p>
          <a:p>
            <a:r>
              <a:rPr lang="zh-CN" altLang="en-US" sz="14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沟通记录</a:t>
            </a:r>
          </a:p>
          <a:p>
            <a:r>
              <a:rPr lang="zh-CN" altLang="en-US" sz="14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活动复盘</a:t>
            </a:r>
          </a:p>
          <a:p>
            <a:r>
              <a:rPr lang="zh-CN" altLang="en-US" sz="14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注意事项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7F301C-4888-ED5A-8DCD-241EFCF4E706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BD9F412-8327-DD93-D438-A8A551AF119E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WHAT'S NEXT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1C451-7314-3FC9-E683-74E014F810D4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20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92153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B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61ABAF-8F16-FDDB-E966-C122A167F848}"/>
              </a:ext>
            </a:extLst>
          </p:cNvPr>
          <p:cNvSpPr txBox="1"/>
          <p:nvPr/>
        </p:nvSpPr>
        <p:spPr>
          <a:xfrm>
            <a:off x="7747000" y="4318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3200" b="1">
                <a:solidFill>
                  <a:srgbClr val="DAD6C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002</a:t>
            </a:r>
            <a:endParaRPr lang="zh-CN" altLang="en-US" sz="13200" b="1">
              <a:solidFill>
                <a:srgbClr val="DAD6CC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F76031-FD6A-9888-075C-4DB9985E88E2}"/>
              </a:ext>
            </a:extLst>
          </p:cNvPr>
          <p:cNvSpPr txBox="1"/>
          <p:nvPr/>
        </p:nvSpPr>
        <p:spPr>
          <a:xfrm>
            <a:off x="736600" y="7366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900" b="1" spc="21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PLAN 02</a:t>
            </a:r>
            <a:endParaRPr lang="zh-CN" altLang="en-US" sz="900" b="1" spc="21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BC848-06BB-5662-963D-05BA0F4EB077}"/>
              </a:ext>
            </a:extLst>
          </p:cNvPr>
          <p:cNvSpPr txBox="1"/>
          <p:nvPr/>
        </p:nvSpPr>
        <p:spPr>
          <a:xfrm>
            <a:off x="736600" y="14097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800" b="1">
                <a:solidFill>
                  <a:srgbClr val="10111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让新人更快进入状态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0F8E0-EB62-EEDB-3C78-1FB91BE3E51C}"/>
              </a:ext>
            </a:extLst>
          </p:cNvPr>
          <p:cNvSpPr txBox="1"/>
          <p:nvPr/>
        </p:nvSpPr>
        <p:spPr>
          <a:xfrm>
            <a:off x="736600" y="22606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Make the first step easier.</a:t>
            </a:r>
            <a:endParaRPr lang="zh-CN" altLang="en-US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EDB877-86CC-55C8-BB43-92855AB08B5F}"/>
              </a:ext>
            </a:extLst>
          </p:cNvPr>
          <p:cNvSpPr txBox="1"/>
          <p:nvPr/>
        </p:nvSpPr>
        <p:spPr>
          <a:xfrm>
            <a:off x="736600" y="30734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5353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刚进入外联的时候，很多事情其实并不知道应该怎么开始。</a:t>
            </a:r>
          </a:p>
          <a:p>
            <a:r>
              <a:rPr lang="zh-CN" altLang="en-US" sz="1600">
                <a:solidFill>
                  <a:srgbClr val="5353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我希望以后可以把常见的沟通方式、合作流程和活动经验整理得更清楚，让新人不用靠猜，也不用因为第一次做就害怕犯错。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F15EF1-1E9A-C306-BAC6-FD0A58877F98}"/>
              </a:ext>
            </a:extLst>
          </p:cNvPr>
          <p:cNvCxnSpPr/>
          <p:nvPr/>
        </p:nvCxnSpPr>
        <p:spPr>
          <a:xfrm>
            <a:off x="736600" y="4724400"/>
            <a:ext cx="6502400" cy="0"/>
          </a:xfrm>
          <a:prstGeom prst="line">
            <a:avLst/>
          </a:prstGeom>
          <a:ln w="12700" cap="flat" cmpd="sng" algn="ctr">
            <a:solidFill>
              <a:srgbClr val="BAB5A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FEC880D-F137-E93A-0BCC-5A152CC41E92}"/>
              </a:ext>
            </a:extLst>
          </p:cNvPr>
          <p:cNvSpPr txBox="1"/>
          <p:nvPr/>
        </p:nvSpPr>
        <p:spPr>
          <a:xfrm>
            <a:off x="736600" y="50419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300" i="1">
                <a:solidFill>
                  <a:srgbClr val="101110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We know what to do.</a:t>
            </a:r>
            <a:endParaRPr lang="zh-CN" altLang="en-US" sz="2300" i="1">
              <a:solidFill>
                <a:srgbClr val="101110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A3EAF4-1EDE-89B4-538B-EE11BDBB9345}"/>
              </a:ext>
            </a:extLst>
          </p:cNvPr>
          <p:cNvSpPr txBox="1"/>
          <p:nvPr/>
        </p:nvSpPr>
        <p:spPr>
          <a:xfrm>
            <a:off x="8382000" y="3149600"/>
            <a:ext cx="311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5353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How do I contact them?</a:t>
            </a:r>
          </a:p>
          <a:p>
            <a:r>
              <a:rPr lang="en-US" altLang="zh-CN" sz="1400">
                <a:solidFill>
                  <a:srgbClr val="5353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should I say?</a:t>
            </a:r>
          </a:p>
          <a:p>
            <a:r>
              <a:rPr lang="en-US" altLang="zh-CN" sz="1400">
                <a:solidFill>
                  <a:srgbClr val="5353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What happens next?</a:t>
            </a:r>
            <a:endParaRPr lang="zh-CN" altLang="en-US" sz="1400">
              <a:solidFill>
                <a:srgbClr val="5353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D980D5-043F-B4C4-2B61-5F4083AD52EF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D6D9012-BA4D-1150-33D1-BAA7286D2264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WHAT'S NEXT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6AC6A2-B9A2-C066-0052-8C1A54427190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21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94080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9A3720-CD34-8D2E-A91B-23A6B399A683}"/>
              </a:ext>
            </a:extLst>
          </p:cNvPr>
          <p:cNvSpPr txBox="1"/>
          <p:nvPr/>
        </p:nvSpPr>
        <p:spPr>
          <a:xfrm>
            <a:off x="7747000" y="4318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3200" b="1">
                <a:solidFill>
                  <a:srgbClr val="1B1C1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003</a:t>
            </a:r>
            <a:endParaRPr lang="zh-CN" altLang="en-US" sz="13200" b="1">
              <a:solidFill>
                <a:srgbClr val="1B1C1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375377-77BD-DB04-5A6F-56D2A9587444}"/>
              </a:ext>
            </a:extLst>
          </p:cNvPr>
          <p:cNvSpPr txBox="1"/>
          <p:nvPr/>
        </p:nvSpPr>
        <p:spPr>
          <a:xfrm>
            <a:off x="736600" y="7366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900" b="1" spc="21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PLAN 03</a:t>
            </a:r>
            <a:endParaRPr lang="zh-CN" altLang="en-US" sz="900" b="1" spc="21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17AD63-05BA-0E9C-E677-FDE2C7234928}"/>
              </a:ext>
            </a:extLst>
          </p:cNvPr>
          <p:cNvSpPr txBox="1"/>
          <p:nvPr/>
        </p:nvSpPr>
        <p:spPr>
          <a:xfrm>
            <a:off x="736600" y="14097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8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让合作更长期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58222-F1D0-C777-360B-444C67145F3B}"/>
              </a:ext>
            </a:extLst>
          </p:cNvPr>
          <p:cNvSpPr txBox="1"/>
          <p:nvPr/>
        </p:nvSpPr>
        <p:spPr>
          <a:xfrm>
            <a:off x="736600" y="22606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Think beyond one event.</a:t>
            </a:r>
            <a:endParaRPr lang="zh-CN" altLang="en-US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86E88-23D4-1DE6-C930-144393C9B544}"/>
              </a:ext>
            </a:extLst>
          </p:cNvPr>
          <p:cNvSpPr txBox="1"/>
          <p:nvPr/>
        </p:nvSpPr>
        <p:spPr>
          <a:xfrm>
            <a:off x="736600" y="30734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一次活动结束，不一定意味着一次合作结束。</a:t>
            </a:r>
          </a:p>
          <a:p>
            <a:r>
              <a:rPr lang="zh-CN" altLang="en-US" sz="16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如果双方合作体验很好，我希望能够主动维护这些关系，让好的合作慢慢从一次性的联系变成长期的连接。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EACC21-4432-0CCF-3184-2681A0DF8E21}"/>
              </a:ext>
            </a:extLst>
          </p:cNvPr>
          <p:cNvCxnSpPr/>
          <p:nvPr/>
        </p:nvCxnSpPr>
        <p:spPr>
          <a:xfrm>
            <a:off x="736600" y="4724400"/>
            <a:ext cx="6502400" cy="0"/>
          </a:xfrm>
          <a:prstGeom prst="line">
            <a:avLst/>
          </a:prstGeom>
          <a:ln w="12700" cap="flat" cmpd="sng" algn="ctr">
            <a:solidFill>
              <a:srgbClr val="34353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5186D4-E506-35D6-8782-D9DE124D7D89}"/>
              </a:ext>
            </a:extLst>
          </p:cNvPr>
          <p:cNvSpPr txBox="1"/>
          <p:nvPr/>
        </p:nvSpPr>
        <p:spPr>
          <a:xfrm>
            <a:off x="736600" y="50419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2300" i="1">
                <a:solidFill>
                  <a:srgbClr val="E9F0F2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Good relationships compound.</a:t>
            </a:r>
            <a:endParaRPr lang="zh-CN" altLang="en-US" sz="2300" i="1">
              <a:solidFill>
                <a:srgbClr val="E9F0F2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FA92EA-AEFB-743A-DAF3-2AC1F5361D28}"/>
              </a:ext>
            </a:extLst>
          </p:cNvPr>
          <p:cNvSpPr txBox="1"/>
          <p:nvPr/>
        </p:nvSpPr>
        <p:spPr>
          <a:xfrm>
            <a:off x="8382000" y="3149600"/>
            <a:ext cx="311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one event</a:t>
            </a:r>
          </a:p>
          <a:p>
            <a:r>
              <a:rPr lang="en-US" altLang="zh-CN" sz="14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follow up</a:t>
            </a:r>
          </a:p>
          <a:p>
            <a:r>
              <a:rPr lang="en-US" altLang="zh-CN" sz="14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shared value</a:t>
            </a:r>
          </a:p>
          <a:p>
            <a:r>
              <a:rPr lang="en-US" altLang="zh-CN" sz="1400">
                <a:solidFill>
                  <a:srgbClr val="B4B3A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long-term connection</a:t>
            </a:r>
            <a:endParaRPr lang="zh-CN" altLang="en-US" sz="1400">
              <a:solidFill>
                <a:srgbClr val="B4B3A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7B5D2D-5993-6E44-2632-93CCAE9FF299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BFC6CC2-8680-9065-2CA0-6ED38E6D6D9A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WHAT'S NEXT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C4582-61BE-31B9-27F9-2E91FACC98FB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22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50300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B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9EB17D-0B70-E8B0-DD92-424F0DF09FC3}"/>
              </a:ext>
            </a:extLst>
          </p:cNvPr>
          <p:cNvSpPr txBox="1"/>
          <p:nvPr/>
        </p:nvSpPr>
        <p:spPr>
          <a:xfrm>
            <a:off x="7747000" y="4318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3200" b="1">
                <a:solidFill>
                  <a:srgbClr val="DAD6C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004</a:t>
            </a:r>
            <a:endParaRPr lang="zh-CN" altLang="en-US" sz="13200" b="1">
              <a:solidFill>
                <a:srgbClr val="DAD6CC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3DEB9-267B-3D38-541A-7E547249A9B0}"/>
              </a:ext>
            </a:extLst>
          </p:cNvPr>
          <p:cNvSpPr txBox="1"/>
          <p:nvPr/>
        </p:nvSpPr>
        <p:spPr>
          <a:xfrm>
            <a:off x="736600" y="7366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900" b="1" spc="210">
                <a:solidFill>
                  <a:srgbClr val="FF5A1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PLAN 04</a:t>
            </a:r>
            <a:endParaRPr lang="zh-CN" altLang="en-US" sz="900" b="1" spc="210">
              <a:solidFill>
                <a:srgbClr val="FF5A1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5E229D-0507-BDB2-BC7C-54B643D5AA2C}"/>
              </a:ext>
            </a:extLst>
          </p:cNvPr>
          <p:cNvSpPr txBox="1"/>
          <p:nvPr/>
        </p:nvSpPr>
        <p:spPr>
          <a:xfrm>
            <a:off x="736600" y="14097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800" b="1">
                <a:solidFill>
                  <a:srgbClr val="10111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让外联更有参与感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8E84E-42B9-B0C2-CA16-72E54BADD1CC}"/>
              </a:ext>
            </a:extLst>
          </p:cNvPr>
          <p:cNvSpPr txBox="1"/>
          <p:nvPr/>
        </p:nvSpPr>
        <p:spPr>
          <a:xfrm>
            <a:off x="736600" y="2260600"/>
            <a:ext cx="6794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Make people want to be here.</a:t>
            </a:r>
            <a:endParaRPr lang="zh-CN" altLang="en-US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C5E6C-DEBC-3AF3-897B-96DE148EFCD5}"/>
              </a:ext>
            </a:extLst>
          </p:cNvPr>
          <p:cNvSpPr txBox="1"/>
          <p:nvPr/>
        </p:nvSpPr>
        <p:spPr>
          <a:xfrm>
            <a:off x="736600" y="3073400"/>
            <a:ext cx="647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5353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我希望外联不仅是一个完成任务的部门，也可以是一个大家愿意一起做事情、愿意表达想法、愿意承担责任的团队。</a:t>
            </a:r>
          </a:p>
          <a:p>
            <a:r>
              <a:rPr lang="zh-CN" altLang="en-US" sz="1600">
                <a:solidFill>
                  <a:srgbClr val="5353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如果成为副部，我希望自己既能在需要的时候站出来，也能给其他人足够的空间去尝试。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4F5AD5-EC22-2E00-1EE2-49AE7CB2D895}"/>
              </a:ext>
            </a:extLst>
          </p:cNvPr>
          <p:cNvCxnSpPr/>
          <p:nvPr/>
        </p:nvCxnSpPr>
        <p:spPr>
          <a:xfrm>
            <a:off x="736600" y="4724400"/>
            <a:ext cx="6502400" cy="0"/>
          </a:xfrm>
          <a:prstGeom prst="line">
            <a:avLst/>
          </a:prstGeom>
          <a:ln w="12700" cap="flat" cmpd="sng" algn="ctr">
            <a:solidFill>
              <a:srgbClr val="BAB5A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D33B5B-8305-C674-D610-AB7675B14963}"/>
              </a:ext>
            </a:extLst>
          </p:cNvPr>
          <p:cNvSpPr txBox="1"/>
          <p:nvPr/>
        </p:nvSpPr>
        <p:spPr>
          <a:xfrm>
            <a:off x="736600" y="50419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300" i="1">
                <a:solidFill>
                  <a:srgbClr val="101110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Lead when needed. Step back when possible.</a:t>
            </a:r>
            <a:endParaRPr lang="zh-CN" altLang="en-US" sz="2300" i="1">
              <a:solidFill>
                <a:srgbClr val="101110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A35815-5B64-76A9-4221-5247207595C5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EAE3AB7-290F-3426-1D40-9407E9A5170A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WHAT'S NEXT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6F9624-3B80-3E99-2167-053F4DA2384D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23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9050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80CF8E-2358-CF50-EE8A-67DAB7ADBB0E}"/>
              </a:ext>
            </a:extLst>
          </p:cNvPr>
          <p:cNvSpPr txBox="1"/>
          <p:nvPr/>
        </p:nvSpPr>
        <p:spPr>
          <a:xfrm>
            <a:off x="609600" y="431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900" b="1" spc="200">
                <a:solidFill>
                  <a:srgbClr val="853416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 / RESPONSIBILITY</a:t>
            </a:r>
            <a:endParaRPr lang="zh-CN" altLang="en-US" sz="900" b="1" spc="200">
              <a:solidFill>
                <a:srgbClr val="853416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B032E7-87F0-DC44-2124-C0370CE3AD65}"/>
              </a:ext>
            </a:extLst>
          </p:cNvPr>
          <p:cNvSpPr txBox="1"/>
          <p:nvPr/>
        </p:nvSpPr>
        <p:spPr>
          <a:xfrm>
            <a:off x="889000" y="16510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4700" b="1">
                <a:solidFill>
                  <a:srgbClr val="11121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Not a bigger title.</a:t>
            </a:r>
            <a:endParaRPr lang="zh-CN" altLang="en-US" sz="4700" b="1">
              <a:solidFill>
                <a:srgbClr val="111211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C9128-D72E-7D2C-7EDC-BF8ABB4579B9}"/>
              </a:ext>
            </a:extLst>
          </p:cNvPr>
          <p:cNvSpPr txBox="1"/>
          <p:nvPr/>
        </p:nvSpPr>
        <p:spPr>
          <a:xfrm>
            <a:off x="889000" y="26162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5400" i="1">
                <a:solidFill>
                  <a:srgbClr val="E9F0F2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A bigger responsibility.</a:t>
            </a:r>
            <a:endParaRPr lang="zh-CN" altLang="en-US" sz="5400" i="1">
              <a:solidFill>
                <a:srgbClr val="E9F0F2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CCE17-1DE9-077E-D907-F20017EC14BA}"/>
              </a:ext>
            </a:extLst>
          </p:cNvPr>
          <p:cNvSpPr txBox="1"/>
          <p:nvPr/>
        </p:nvSpPr>
        <p:spPr>
          <a:xfrm>
            <a:off x="914400" y="4445000"/>
            <a:ext cx="863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49271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对我来说，竞选副部不是换一个 </a:t>
            </a:r>
            <a:r>
              <a:rPr lang="en-US" altLang="zh-CN" sz="1700">
                <a:solidFill>
                  <a:srgbClr val="49271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title</a:t>
            </a:r>
            <a:r>
              <a:rPr lang="zh-CN" altLang="en-US" sz="1700">
                <a:solidFill>
                  <a:srgbClr val="49271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  <a:p>
            <a:r>
              <a:rPr lang="zh-CN" altLang="en-US" sz="1700">
                <a:solidFill>
                  <a:srgbClr val="49271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而是希望自己可以承担更多，也让下一次活动、下一次合作、下一届外联，比现在再往前一点。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5F63E3-1B94-0DB7-55D8-022F9134E44C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89CB1BF-BE75-C4A1-34E9-2F2939626068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RESPONSIBILITY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0E1CC-D892-5CD4-1FB1-00F0DC7E45C3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24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6768702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B2BAFB-6769-F7CB-5ABC-6653D0DB0F03}"/>
              </a:ext>
            </a:extLst>
          </p:cNvPr>
          <p:cNvSpPr txBox="1"/>
          <p:nvPr/>
        </p:nvSpPr>
        <p:spPr>
          <a:xfrm>
            <a:off x="4826000" y="8636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AU" altLang="zh-CN" sz="900" b="1" spc="200">
                <a:solidFill>
                  <a:srgbClr val="8F979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05 / THANK YOU</a:t>
            </a:r>
            <a:endParaRPr lang="zh-CN" altLang="en-US" sz="900" b="1" spc="200">
              <a:solidFill>
                <a:srgbClr val="8F979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052EB-181B-105D-46D6-88C35CC636FC}"/>
              </a:ext>
            </a:extLst>
          </p:cNvPr>
          <p:cNvSpPr txBox="1"/>
          <p:nvPr/>
        </p:nvSpPr>
        <p:spPr>
          <a:xfrm>
            <a:off x="1143000" y="14986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8200" b="1">
                <a:solidFill>
                  <a:srgbClr val="E9F0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谢谢大家。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B80A6-1DF9-8E1C-AA31-BE7EEACF5C8E}"/>
              </a:ext>
            </a:extLst>
          </p:cNvPr>
          <p:cNvSpPr txBox="1"/>
          <p:nvPr/>
        </p:nvSpPr>
        <p:spPr>
          <a:xfrm>
            <a:off x="1968500" y="32766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3000" i="1">
                <a:solidFill>
                  <a:srgbClr val="FF5A1F"/>
                </a:solidFill>
                <a:latin typeface="Georgia" panose="02040502050405020303" pitchFamily="18" charset="0"/>
                <a:ea typeface="Microsoft YaHei" panose="020B0503020204020204" pitchFamily="34" charset="-122"/>
              </a:rPr>
              <a:t>Thanks for scrolling this far.</a:t>
            </a:r>
            <a:endParaRPr lang="zh-CN" altLang="en-US" sz="3000" i="1">
              <a:solidFill>
                <a:srgbClr val="FF5A1F"/>
              </a:solidFill>
              <a:latin typeface="Georgia" panose="020405020504050203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35511-342A-61BD-2101-D09029D75382}"/>
              </a:ext>
            </a:extLst>
          </p:cNvPr>
          <p:cNvSpPr txBox="1"/>
          <p:nvPr/>
        </p:nvSpPr>
        <p:spPr>
          <a:xfrm>
            <a:off x="1968500" y="405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000" b="1" spc="150">
                <a:solidFill>
                  <a:srgbClr val="8F979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And thanks for every moment along the way.</a:t>
            </a:r>
            <a:endParaRPr lang="zh-CN" altLang="en-US" sz="1000" b="1" spc="150">
              <a:solidFill>
                <a:srgbClr val="8F979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7AE69-2432-11C2-9F34-3F0365E1CA1E}"/>
              </a:ext>
            </a:extLst>
          </p:cNvPr>
          <p:cNvSpPr txBox="1"/>
          <p:nvPr/>
        </p:nvSpPr>
        <p:spPr>
          <a:xfrm>
            <a:off x="4191000" y="5105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AU" altLang="zh-CN" sz="2400">
                <a:solidFill>
                  <a:srgbClr val="E9F0F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Eddy </a:t>
            </a:r>
            <a:r>
              <a:rPr lang="zh-CN" altLang="en-US" sz="2400">
                <a:solidFill>
                  <a:srgbClr val="E9F0F2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盛世禾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C4C0B-FFE8-D779-DB6B-3B387CBF71EE}"/>
              </a:ext>
            </a:extLst>
          </p:cNvPr>
          <p:cNvSpPr txBox="1"/>
          <p:nvPr/>
        </p:nvSpPr>
        <p:spPr>
          <a:xfrm>
            <a:off x="3492500" y="57023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800" b="1" spc="150">
                <a:solidFill>
                  <a:srgbClr val="8F979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EXTERNAL RELATIONS · DEPUTY HEAD CANDIDATE</a:t>
            </a:r>
            <a:endParaRPr lang="zh-CN" altLang="en-US" sz="800" b="1" spc="150">
              <a:solidFill>
                <a:srgbClr val="8F979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5A5350-310A-914E-4E60-148093ACDFDC}"/>
              </a:ext>
            </a:extLst>
          </p:cNvPr>
          <p:cNvCxnSpPr/>
          <p:nvPr/>
        </p:nvCxnSpPr>
        <p:spPr>
          <a:xfrm>
            <a:off x="609600" y="6413500"/>
            <a:ext cx="10972800" cy="0"/>
          </a:xfrm>
          <a:prstGeom prst="line">
            <a:avLst/>
          </a:prstGeom>
          <a:ln w="9525" cap="flat" cmpd="sng" algn="ctr">
            <a:solidFill>
              <a:srgbClr val="3738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1DEC656-2C3A-A762-6C23-B5DFD8C551AD}"/>
              </a:ext>
            </a:extLst>
          </p:cNvPr>
          <p:cNvSpPr txBox="1"/>
          <p:nvPr/>
        </p:nvSpPr>
        <p:spPr>
          <a:xfrm>
            <a:off x="609600" y="6502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AU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THANK YOU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5ECA73-B971-694C-6A5D-9747D11172C7}"/>
              </a:ext>
            </a:extLst>
          </p:cNvPr>
          <p:cNvSpPr txBox="1"/>
          <p:nvPr/>
        </p:nvSpPr>
        <p:spPr>
          <a:xfrm>
            <a:off x="10922000" y="65024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700" b="1" spc="140">
                <a:solidFill>
                  <a:srgbClr val="71716B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25</a:t>
            </a:r>
            <a:endParaRPr lang="zh-CN" altLang="en-US" sz="700" b="1" spc="140">
              <a:solidFill>
                <a:srgbClr val="71716B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6974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2141</Words>
  <Application>Microsoft Office PowerPoint</Application>
  <PresentationFormat>Custom</PresentationFormat>
  <Paragraphs>227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Microsoft YaHei</vt:lpstr>
      <vt:lpstr>等线</vt:lpstr>
      <vt:lpstr>等线 Light</vt:lpstr>
      <vt:lpstr>Arial</vt:lpstr>
      <vt:lpstr>Georgia</vt:lpstr>
      <vt:lpstr>Segoe Print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Shihe Sheng</dc:creator>
  <cp:lastModifiedBy>Shihe Sheng</cp:lastModifiedBy>
  <cp:revision>1</cp:revision>
  <dcterms:created xsi:type="dcterms:W3CDTF">2026-10-11T17:18:12Z</dcterms:created>
  <dcterms:modified xsi:type="dcterms:W3CDTF">2026-10-11T17:18:12Z</dcterms:modified>
</cp:coreProperties>
</file>